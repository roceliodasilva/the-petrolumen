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3"/>
    <p:sldId id="257" r:id="rId4"/>
    <p:sldId id="266" r:id="rId5"/>
    <p:sldId id="258" r:id="rId6"/>
    <p:sldId id="268" r:id="rId7"/>
    <p:sldId id="269" r:id="rId8"/>
    <p:sldId id="259" r:id="rId9"/>
    <p:sldId id="270" r:id="rId10"/>
    <p:sldId id="271" r:id="rId11"/>
    <p:sldId id="272" r:id="rId12"/>
    <p:sldId id="260" r:id="rId13"/>
    <p:sldId id="273" r:id="rId14"/>
    <p:sldId id="275" r:id="rId15"/>
    <p:sldId id="276" r:id="rId16"/>
    <p:sldId id="274" r:id="rId17"/>
    <p:sldId id="277" r:id="rId18"/>
    <p:sldId id="265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39E095-EF93-489C-8B8A-2AE29470A321}" v="297" dt="2025-05-24T12:17:04.3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mailto:rocelioinc@gmail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Projecto Gaia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dirty="0"/>
              <a:t>Plataforma Integrada de </a:t>
            </a:r>
            <a:r>
              <a:rPr dirty="0" err="1"/>
              <a:t>Engenharia</a:t>
            </a:r>
            <a:r>
              <a:rPr dirty="0"/>
              <a:t> de Petróleo</a:t>
            </a:r>
          </a:p>
          <a:p>
            <a:r>
              <a:rPr dirty="0" err="1"/>
              <a:t>Rocélio</a:t>
            </a:r>
            <a:r>
              <a:rPr dirty="0"/>
              <a:t> Da Silva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75E75-1538-15AD-1380-56D8284B3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F0DAC-7A21-2A98-9D98-F3C8ED2F6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ct val="20000"/>
              </a:spcBef>
            </a:pPr>
            <a:r>
              <a:rPr lang="en-US" sz="3200" err="1"/>
              <a:t>Contexto</a:t>
            </a:r>
            <a:r>
              <a:rPr lang="en-US" sz="3200" dirty="0"/>
              <a:t> do </a:t>
            </a:r>
            <a:r>
              <a:rPr lang="en-US" sz="3200" err="1"/>
              <a:t>setor</a:t>
            </a:r>
            <a:r>
              <a:rPr lang="en-US" sz="3200" dirty="0"/>
              <a:t> </a:t>
            </a:r>
            <a:r>
              <a:rPr lang="en-US" sz="3200" err="1"/>
              <a:t>petrolífero</a:t>
            </a:r>
            <a:r>
              <a:rPr lang="en-US" sz="3200" dirty="0"/>
              <a:t> </a:t>
            </a:r>
            <a:r>
              <a:rPr lang="en-US" sz="3200" err="1"/>
              <a:t>em</a:t>
            </a:r>
            <a:r>
              <a:rPr lang="en-US" sz="3200" dirty="0"/>
              <a:t> Angola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6C755-D18E-C702-B832-60D9F1157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Angola é um dos </a:t>
            </a:r>
            <a:r>
              <a:rPr lang="en-US" dirty="0" err="1">
                <a:ea typeface="+mn-lt"/>
                <a:cs typeface="+mn-lt"/>
              </a:rPr>
              <a:t>principais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produtores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petróleo</a:t>
            </a:r>
            <a:r>
              <a:rPr lang="en-US" dirty="0">
                <a:ea typeface="+mn-lt"/>
                <a:cs typeface="+mn-lt"/>
              </a:rPr>
              <a:t> da África </a:t>
            </a:r>
            <a:r>
              <a:rPr lang="en-US" dirty="0" err="1">
                <a:ea typeface="+mn-lt"/>
                <a:cs typeface="+mn-lt"/>
              </a:rPr>
              <a:t>Subsaariana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sendo</a:t>
            </a:r>
            <a:r>
              <a:rPr lang="en-US" dirty="0">
                <a:ea typeface="+mn-lt"/>
                <a:cs typeface="+mn-lt"/>
              </a:rPr>
              <a:t> o </a:t>
            </a:r>
            <a:r>
              <a:rPr lang="en-US" dirty="0" err="1">
                <a:ea typeface="+mn-lt"/>
                <a:cs typeface="+mn-lt"/>
              </a:rPr>
              <a:t>setor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responsável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mais</a:t>
            </a:r>
            <a:r>
              <a:rPr lang="en-US" dirty="0">
                <a:ea typeface="+mn-lt"/>
                <a:cs typeface="+mn-lt"/>
              </a:rPr>
              <a:t> de 90% das </a:t>
            </a:r>
            <a:r>
              <a:rPr lang="en-US" dirty="0" err="1">
                <a:ea typeface="+mn-lt"/>
                <a:cs typeface="+mn-lt"/>
              </a:rPr>
              <a:t>exportações</a:t>
            </a:r>
            <a:r>
              <a:rPr lang="en-US" dirty="0">
                <a:ea typeface="+mn-lt"/>
                <a:cs typeface="+mn-lt"/>
              </a:rPr>
              <a:t> do </a:t>
            </a:r>
            <a:r>
              <a:rPr lang="en-US" dirty="0" err="1">
                <a:ea typeface="+mn-lt"/>
                <a:cs typeface="+mn-lt"/>
              </a:rPr>
              <a:t>país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cerca</a:t>
            </a:r>
            <a:r>
              <a:rPr lang="en-US" dirty="0">
                <a:ea typeface="+mn-lt"/>
                <a:cs typeface="+mn-lt"/>
              </a:rPr>
              <a:t> de 50% do </a:t>
            </a:r>
            <a:r>
              <a:rPr lang="en-US" dirty="0" err="1">
                <a:ea typeface="+mn-lt"/>
                <a:cs typeface="+mn-lt"/>
              </a:rPr>
              <a:t>seu</a:t>
            </a:r>
            <a:r>
              <a:rPr lang="en-US" dirty="0">
                <a:ea typeface="+mn-lt"/>
                <a:cs typeface="+mn-lt"/>
              </a:rPr>
              <a:t> PIB. A Sonangol, </a:t>
            </a:r>
            <a:r>
              <a:rPr lang="en-US" dirty="0" err="1">
                <a:ea typeface="+mn-lt"/>
                <a:cs typeface="+mn-lt"/>
              </a:rPr>
              <a:t>empresa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estatal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desempenha</a:t>
            </a:r>
            <a:r>
              <a:rPr lang="en-US" dirty="0">
                <a:ea typeface="+mn-lt"/>
                <a:cs typeface="+mn-lt"/>
              </a:rPr>
              <a:t> um </a:t>
            </a:r>
            <a:r>
              <a:rPr lang="en-US" dirty="0" err="1">
                <a:ea typeface="+mn-lt"/>
                <a:cs typeface="+mn-lt"/>
              </a:rPr>
              <a:t>papel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estratégico</a:t>
            </a:r>
            <a:r>
              <a:rPr lang="en-US" dirty="0">
                <a:ea typeface="+mn-lt"/>
                <a:cs typeface="+mn-lt"/>
              </a:rPr>
              <a:t> tanto </a:t>
            </a:r>
            <a:r>
              <a:rPr lang="en-US" dirty="0" err="1">
                <a:ea typeface="+mn-lt"/>
                <a:cs typeface="+mn-lt"/>
              </a:rPr>
              <a:t>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regulação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quanto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operação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atividades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exploração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produção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+mn-lt"/>
                <a:cs typeface="+mn-lt"/>
              </a:rPr>
              <a:t>Atualmente, o </a:t>
            </a:r>
            <a:r>
              <a:rPr lang="en-US" dirty="0" err="1">
                <a:ea typeface="+mn-lt"/>
                <a:cs typeface="+mn-lt"/>
              </a:rPr>
              <a:t>setor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enfrenta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desafios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como</a:t>
            </a:r>
            <a:r>
              <a:rPr lang="en-US" dirty="0">
                <a:ea typeface="+mn-lt"/>
                <a:cs typeface="+mn-lt"/>
              </a:rPr>
              <a:t> o </a:t>
            </a:r>
            <a:r>
              <a:rPr lang="en-US" dirty="0" err="1">
                <a:ea typeface="+mn-lt"/>
                <a:cs typeface="+mn-lt"/>
              </a:rPr>
              <a:t>declínio</a:t>
            </a:r>
            <a:r>
              <a:rPr lang="en-US" dirty="0">
                <a:ea typeface="+mn-lt"/>
                <a:cs typeface="+mn-lt"/>
              </a:rPr>
              <a:t> natural da </a:t>
            </a:r>
            <a:r>
              <a:rPr lang="en-US" dirty="0" err="1">
                <a:ea typeface="+mn-lt"/>
                <a:cs typeface="+mn-lt"/>
              </a:rPr>
              <a:t>produção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em</a:t>
            </a:r>
            <a:r>
              <a:rPr lang="en-US" dirty="0">
                <a:ea typeface="+mn-lt"/>
                <a:cs typeface="+mn-lt"/>
              </a:rPr>
              <a:t> campos maduros, a </a:t>
            </a:r>
            <a:r>
              <a:rPr lang="en-US" dirty="0" err="1">
                <a:ea typeface="+mn-lt"/>
                <a:cs typeface="+mn-lt"/>
              </a:rPr>
              <a:t>necessidade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explorar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novas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reservas</a:t>
            </a:r>
            <a:r>
              <a:rPr lang="en-US" dirty="0">
                <a:ea typeface="+mn-lt"/>
                <a:cs typeface="+mn-lt"/>
              </a:rPr>
              <a:t> e o </a:t>
            </a:r>
            <a:r>
              <a:rPr lang="en-US" dirty="0" err="1">
                <a:ea typeface="+mn-lt"/>
                <a:cs typeface="+mn-lt"/>
              </a:rPr>
              <a:t>aumento</a:t>
            </a:r>
            <a:r>
              <a:rPr lang="en-US" dirty="0">
                <a:ea typeface="+mn-lt"/>
                <a:cs typeface="+mn-lt"/>
              </a:rPr>
              <a:t> da </a:t>
            </a:r>
            <a:r>
              <a:rPr lang="en-US" dirty="0" err="1">
                <a:ea typeface="+mn-lt"/>
                <a:cs typeface="+mn-lt"/>
              </a:rPr>
              <a:t>pressão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eficiência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sustentabilidade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Esses </a:t>
            </a:r>
            <a:r>
              <a:rPr lang="en-US" dirty="0" err="1">
                <a:ea typeface="+mn-lt"/>
                <a:cs typeface="+mn-lt"/>
              </a:rPr>
              <a:t>desafios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criam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uma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oportunidade</a:t>
            </a:r>
            <a:r>
              <a:rPr lang="en-US" dirty="0">
                <a:ea typeface="+mn-lt"/>
                <a:cs typeface="+mn-lt"/>
              </a:rPr>
              <a:t> para </a:t>
            </a:r>
            <a:r>
              <a:rPr lang="en-US" dirty="0" err="1">
                <a:ea typeface="+mn-lt"/>
                <a:cs typeface="+mn-lt"/>
              </a:rPr>
              <a:t>soluções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digitais</a:t>
            </a:r>
            <a:r>
              <a:rPr lang="en-US" dirty="0">
                <a:ea typeface="+mn-lt"/>
                <a:cs typeface="+mn-lt"/>
              </a:rPr>
              <a:t> que </a:t>
            </a:r>
            <a:r>
              <a:rPr lang="en-US" dirty="0" err="1">
                <a:ea typeface="+mn-lt"/>
                <a:cs typeface="+mn-lt"/>
              </a:rPr>
              <a:t>otimizem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operações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reduzam</a:t>
            </a:r>
            <a:r>
              <a:rPr lang="en-US" dirty="0">
                <a:ea typeface="+mn-lt"/>
                <a:cs typeface="+mn-lt"/>
              </a:rPr>
              <a:t> custos e </a:t>
            </a:r>
            <a:r>
              <a:rPr lang="en-US" dirty="0" err="1">
                <a:ea typeface="+mn-lt"/>
                <a:cs typeface="+mn-lt"/>
              </a:rPr>
              <a:t>melhorem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tomada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decisão</a:t>
            </a:r>
            <a:r>
              <a:rPr lang="en-US" dirty="0">
                <a:ea typeface="+mn-lt"/>
                <a:cs typeface="+mn-lt"/>
              </a:rPr>
              <a:t>. Nesse </a:t>
            </a:r>
            <a:r>
              <a:rPr lang="en-US" dirty="0" err="1">
                <a:ea typeface="+mn-lt"/>
                <a:cs typeface="+mn-lt"/>
              </a:rPr>
              <a:t>contexto</a:t>
            </a:r>
            <a:r>
              <a:rPr lang="en-US" dirty="0">
                <a:ea typeface="+mn-lt"/>
                <a:cs typeface="+mn-lt"/>
              </a:rPr>
              <a:t>, o </a:t>
            </a:r>
            <a:r>
              <a:rPr lang="en-US" b="1" dirty="0">
                <a:ea typeface="+mn-lt"/>
                <a:cs typeface="+mn-lt"/>
              </a:rPr>
              <a:t>Projecto Gaia</a:t>
            </a:r>
            <a:r>
              <a:rPr lang="en-US" dirty="0">
                <a:ea typeface="+mn-lt"/>
                <a:cs typeface="+mn-lt"/>
              </a:rPr>
              <a:t> surge </a:t>
            </a:r>
            <a:r>
              <a:rPr lang="en-US" dirty="0" err="1">
                <a:ea typeface="+mn-lt"/>
                <a:cs typeface="+mn-lt"/>
              </a:rPr>
              <a:t>como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uma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proposta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inovadora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desenvolvida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localmente</a:t>
            </a:r>
            <a:r>
              <a:rPr lang="en-US" dirty="0">
                <a:ea typeface="+mn-lt"/>
                <a:cs typeface="+mn-lt"/>
              </a:rPr>
              <a:t>, para </a:t>
            </a:r>
            <a:r>
              <a:rPr lang="en-US" dirty="0" err="1">
                <a:ea typeface="+mn-lt"/>
                <a:cs typeface="+mn-lt"/>
              </a:rPr>
              <a:t>apoiar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engenheiros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angolanos</a:t>
            </a:r>
            <a:r>
              <a:rPr lang="en-US" dirty="0">
                <a:ea typeface="+mn-lt"/>
                <a:cs typeface="+mn-lt"/>
              </a:rPr>
              <a:t> com ferramentas </a:t>
            </a:r>
            <a:r>
              <a:rPr lang="en-US" dirty="0" err="1">
                <a:ea typeface="+mn-lt"/>
                <a:cs typeface="+mn-lt"/>
              </a:rPr>
              <a:t>adaptadas</a:t>
            </a:r>
            <a:r>
              <a:rPr lang="en-US" dirty="0">
                <a:ea typeface="+mn-lt"/>
                <a:cs typeface="+mn-lt"/>
              </a:rPr>
              <a:t> à </a:t>
            </a:r>
            <a:r>
              <a:rPr lang="en-US" dirty="0" err="1">
                <a:ea typeface="+mn-lt"/>
                <a:cs typeface="+mn-lt"/>
              </a:rPr>
              <a:t>realidade</a:t>
            </a:r>
            <a:r>
              <a:rPr lang="en-US" dirty="0">
                <a:ea typeface="+mn-lt"/>
                <a:cs typeface="+mn-lt"/>
              </a:rPr>
              <a:t> dos campos </a:t>
            </a:r>
            <a:r>
              <a:rPr lang="en-US" dirty="0" err="1">
                <a:ea typeface="+mn-lt"/>
                <a:cs typeface="+mn-lt"/>
              </a:rPr>
              <a:t>nacionais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promovendo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maior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autonomia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precisão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técnica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96403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/>
              <a:t>Necessidade</a:t>
            </a:r>
            <a:r>
              <a:rPr lang="en-US" sz="3200" dirty="0"/>
              <a:t> de </a:t>
            </a:r>
            <a:r>
              <a:rPr lang="en-US" sz="3200" dirty="0" err="1"/>
              <a:t>unificação</a:t>
            </a:r>
            <a:r>
              <a:rPr lang="en-US" sz="3200" dirty="0"/>
              <a:t> de ferramentas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Atualmente, </a:t>
            </a:r>
            <a:r>
              <a:rPr lang="en-US" dirty="0" err="1">
                <a:ea typeface="+mn-lt"/>
                <a:cs typeface="+mn-lt"/>
              </a:rPr>
              <a:t>engenheiros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petróleo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em</a:t>
            </a:r>
            <a:r>
              <a:rPr lang="en-US" dirty="0">
                <a:ea typeface="+mn-lt"/>
                <a:cs typeface="+mn-lt"/>
              </a:rPr>
              <a:t> Angola </a:t>
            </a:r>
            <a:r>
              <a:rPr lang="en-US" dirty="0" err="1">
                <a:ea typeface="+mn-lt"/>
                <a:cs typeface="+mn-lt"/>
              </a:rPr>
              <a:t>utilizam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uma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combinação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softwares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estrangeiros</a:t>
            </a:r>
            <a:r>
              <a:rPr lang="en-US" dirty="0">
                <a:ea typeface="+mn-lt"/>
                <a:cs typeface="+mn-lt"/>
              </a:rPr>
              <a:t> para </a:t>
            </a:r>
            <a:r>
              <a:rPr lang="en-US" dirty="0" err="1">
                <a:ea typeface="+mn-lt"/>
                <a:cs typeface="+mn-lt"/>
              </a:rPr>
              <a:t>simulações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análises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relatórios</a:t>
            </a:r>
            <a:r>
              <a:rPr lang="en-US" dirty="0">
                <a:ea typeface="+mn-lt"/>
                <a:cs typeface="+mn-lt"/>
              </a:rPr>
              <a:t> — </a:t>
            </a:r>
            <a:r>
              <a:rPr lang="en-US" dirty="0" err="1">
                <a:ea typeface="+mn-lt"/>
                <a:cs typeface="+mn-lt"/>
              </a:rPr>
              <a:t>muitas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vezes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caros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complexos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pouco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adaptados</a:t>
            </a:r>
            <a:r>
              <a:rPr lang="en-US" dirty="0">
                <a:ea typeface="+mn-lt"/>
                <a:cs typeface="+mn-lt"/>
              </a:rPr>
              <a:t> à </a:t>
            </a:r>
            <a:r>
              <a:rPr lang="en-US" dirty="0" err="1">
                <a:ea typeface="+mn-lt"/>
                <a:cs typeface="+mn-lt"/>
              </a:rPr>
              <a:t>realidade</a:t>
            </a:r>
            <a:r>
              <a:rPr lang="en-US" dirty="0">
                <a:ea typeface="+mn-lt"/>
                <a:cs typeface="+mn-lt"/>
              </a:rPr>
              <a:t> local.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+mn-lt"/>
                <a:cs typeface="+mn-lt"/>
              </a:rPr>
              <a:t>Essa </a:t>
            </a:r>
            <a:r>
              <a:rPr lang="en-US" dirty="0" err="1">
                <a:ea typeface="+mn-lt"/>
                <a:cs typeface="+mn-lt"/>
              </a:rPr>
              <a:t>fragmentação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traz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desafios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como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Falta de </a:t>
            </a:r>
            <a:r>
              <a:rPr lang="en-US" dirty="0" err="1">
                <a:ea typeface="+mn-lt"/>
                <a:cs typeface="+mn-lt"/>
              </a:rPr>
              <a:t>integração</a:t>
            </a:r>
            <a:r>
              <a:rPr lang="en-US" dirty="0">
                <a:ea typeface="+mn-lt"/>
                <a:cs typeface="+mn-lt"/>
              </a:rPr>
              <a:t> entre </a:t>
            </a:r>
            <a:r>
              <a:rPr lang="en-US" dirty="0" err="1">
                <a:ea typeface="+mn-lt"/>
                <a:cs typeface="+mn-lt"/>
              </a:rPr>
              <a:t>áreas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produção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perfuração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reservatórios</a:t>
            </a:r>
            <a:r>
              <a:rPr lang="en-US" dirty="0">
                <a:ea typeface="+mn-lt"/>
                <a:cs typeface="+mn-lt"/>
              </a:rPr>
              <a:t>)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Perda</a:t>
            </a:r>
            <a:r>
              <a:rPr lang="en-US" dirty="0">
                <a:ea typeface="+mn-lt"/>
                <a:cs typeface="+mn-lt"/>
              </a:rPr>
              <a:t> de tempo </a:t>
            </a:r>
            <a:r>
              <a:rPr lang="en-US" dirty="0" err="1">
                <a:ea typeface="+mn-lt"/>
                <a:cs typeface="+mn-lt"/>
              </a:rPr>
              <a:t>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transição</a:t>
            </a:r>
            <a:r>
              <a:rPr lang="en-US" dirty="0">
                <a:ea typeface="+mn-lt"/>
                <a:cs typeface="+mn-lt"/>
              </a:rPr>
              <a:t> entre ferramentas </a:t>
            </a:r>
            <a:r>
              <a:rPr lang="en-US" dirty="0" err="1">
                <a:ea typeface="+mn-lt"/>
                <a:cs typeface="+mn-lt"/>
              </a:rPr>
              <a:t>distintas</a:t>
            </a:r>
            <a:endParaRPr lang="en-US" dirty="0" err="1"/>
          </a:p>
          <a:p>
            <a:r>
              <a:rPr lang="en-US" dirty="0" err="1">
                <a:ea typeface="+mn-lt"/>
                <a:cs typeface="+mn-lt"/>
              </a:rPr>
              <a:t>Dificuldade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aprendizado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suporte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técnico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limitado</a:t>
            </a:r>
            <a:endParaRPr lang="en-US" dirty="0" err="1"/>
          </a:p>
          <a:p>
            <a:r>
              <a:rPr lang="en-US" dirty="0">
                <a:ea typeface="+mn-lt"/>
                <a:cs typeface="+mn-lt"/>
              </a:rPr>
              <a:t>Baixa </a:t>
            </a:r>
            <a:r>
              <a:rPr lang="en-US" dirty="0" err="1">
                <a:ea typeface="+mn-lt"/>
                <a:cs typeface="+mn-lt"/>
              </a:rPr>
              <a:t>adaptabilidade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aos</a:t>
            </a:r>
            <a:r>
              <a:rPr lang="en-US" dirty="0">
                <a:ea typeface="+mn-lt"/>
                <a:cs typeface="+mn-lt"/>
              </a:rPr>
              <a:t> dados e </a:t>
            </a:r>
            <a:r>
              <a:rPr lang="en-US" dirty="0" err="1">
                <a:ea typeface="+mn-lt"/>
                <a:cs typeface="+mn-lt"/>
              </a:rPr>
              <a:t>condições</a:t>
            </a:r>
            <a:r>
              <a:rPr lang="en-US" dirty="0">
                <a:ea typeface="+mn-lt"/>
                <a:cs typeface="+mn-lt"/>
              </a:rPr>
              <a:t> dos campos </a:t>
            </a:r>
            <a:r>
              <a:rPr lang="en-US" dirty="0" err="1">
                <a:ea typeface="+mn-lt"/>
                <a:cs typeface="+mn-lt"/>
              </a:rPr>
              <a:t>angolanos</a:t>
            </a:r>
            <a:endParaRPr lang="en-US" dirty="0" err="1"/>
          </a:p>
          <a:p>
            <a:r>
              <a:rPr lang="en-US" dirty="0" err="1">
                <a:ea typeface="+mn-lt"/>
                <a:cs typeface="+mn-lt"/>
              </a:rPr>
              <a:t>Há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uma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necessidade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clara</a:t>
            </a:r>
            <a:r>
              <a:rPr lang="en-US" b="1" dirty="0">
                <a:ea typeface="+mn-lt"/>
                <a:cs typeface="+mn-lt"/>
              </a:rPr>
              <a:t> de </a:t>
            </a:r>
            <a:r>
              <a:rPr lang="en-US" b="1" dirty="0" err="1">
                <a:ea typeface="+mn-lt"/>
                <a:cs typeface="+mn-lt"/>
              </a:rPr>
              <a:t>uma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plataforma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unificada</a:t>
            </a:r>
            <a:r>
              <a:rPr lang="en-US" dirty="0">
                <a:ea typeface="+mn-lt"/>
                <a:cs typeface="+mn-lt"/>
              </a:rPr>
              <a:t>, que </a:t>
            </a:r>
            <a:r>
              <a:rPr lang="en-US" dirty="0" err="1">
                <a:ea typeface="+mn-lt"/>
                <a:cs typeface="+mn-lt"/>
              </a:rPr>
              <a:t>concentre</a:t>
            </a:r>
            <a:r>
              <a:rPr lang="en-US" dirty="0">
                <a:ea typeface="+mn-lt"/>
                <a:cs typeface="+mn-lt"/>
              </a:rPr>
              <a:t> as </a:t>
            </a:r>
            <a:r>
              <a:rPr lang="en-US" dirty="0" err="1">
                <a:ea typeface="+mn-lt"/>
                <a:cs typeface="+mn-lt"/>
              </a:rPr>
              <a:t>principais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funcionalidades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utilizadas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diariamente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engenheiros</a:t>
            </a:r>
            <a:r>
              <a:rPr lang="en-US" dirty="0">
                <a:ea typeface="+mn-lt"/>
                <a:cs typeface="+mn-lt"/>
              </a:rPr>
              <a:t> do </a:t>
            </a:r>
            <a:r>
              <a:rPr lang="en-US" dirty="0" err="1">
                <a:ea typeface="+mn-lt"/>
                <a:cs typeface="+mn-lt"/>
              </a:rPr>
              <a:t>setor</a:t>
            </a:r>
            <a:r>
              <a:rPr lang="en-US" dirty="0">
                <a:ea typeface="+mn-lt"/>
                <a:cs typeface="+mn-lt"/>
              </a:rPr>
              <a:t>, com </a:t>
            </a:r>
            <a:r>
              <a:rPr lang="en-US" dirty="0" err="1">
                <a:ea typeface="+mn-lt"/>
                <a:cs typeface="+mn-lt"/>
              </a:rPr>
              <a:t>uma</a:t>
            </a:r>
            <a:r>
              <a:rPr lang="en-US" dirty="0">
                <a:ea typeface="+mn-lt"/>
                <a:cs typeface="+mn-lt"/>
              </a:rPr>
              <a:t> interface </a:t>
            </a:r>
            <a:r>
              <a:rPr lang="en-US" dirty="0" err="1">
                <a:ea typeface="+mn-lt"/>
                <a:cs typeface="+mn-lt"/>
              </a:rPr>
              <a:t>acessível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personalizável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treinada</a:t>
            </a:r>
            <a:r>
              <a:rPr lang="en-US" dirty="0">
                <a:ea typeface="+mn-lt"/>
                <a:cs typeface="+mn-lt"/>
              </a:rPr>
              <a:t> com dados </a:t>
            </a:r>
            <a:r>
              <a:rPr lang="en-US" dirty="0" err="1">
                <a:ea typeface="+mn-lt"/>
                <a:cs typeface="+mn-lt"/>
              </a:rPr>
              <a:t>locais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O </a:t>
            </a:r>
            <a:r>
              <a:rPr lang="en-US" b="1" dirty="0">
                <a:ea typeface="+mn-lt"/>
                <a:cs typeface="+mn-lt"/>
              </a:rPr>
              <a:t>Projecto Gaia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responde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diretamente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essa</a:t>
            </a:r>
            <a:r>
              <a:rPr lang="en-US" dirty="0">
                <a:ea typeface="+mn-lt"/>
                <a:cs typeface="+mn-lt"/>
              </a:rPr>
              <a:t> lacuna, </a:t>
            </a:r>
            <a:r>
              <a:rPr lang="en-US" dirty="0" err="1">
                <a:ea typeface="+mn-lt"/>
                <a:cs typeface="+mn-lt"/>
              </a:rPr>
              <a:t>integrando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três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pilares</a:t>
            </a:r>
            <a:r>
              <a:rPr lang="en-US" dirty="0">
                <a:ea typeface="+mn-lt"/>
                <a:cs typeface="+mn-lt"/>
              </a:rPr>
              <a:t> da </a:t>
            </a:r>
            <a:r>
              <a:rPr lang="en-US" dirty="0" err="1">
                <a:ea typeface="+mn-lt"/>
                <a:cs typeface="+mn-lt"/>
              </a:rPr>
              <a:t>engenharia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petróleo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em</a:t>
            </a:r>
            <a:r>
              <a:rPr lang="en-US" dirty="0">
                <a:ea typeface="+mn-lt"/>
                <a:cs typeface="+mn-lt"/>
              </a:rPr>
              <a:t> um </a:t>
            </a:r>
            <a:r>
              <a:rPr lang="en-US" dirty="0" err="1">
                <a:ea typeface="+mn-lt"/>
                <a:cs typeface="+mn-lt"/>
              </a:rPr>
              <a:t>único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ecossistema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inteligente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colaborativo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E0E60-FBC8-F4D5-48CF-14A46960F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50FF6-4EEF-0D74-2CD9-0FDDF4F2F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20000"/>
              </a:spcBef>
            </a:pPr>
            <a:r>
              <a:rPr lang="en-US" sz="3200" dirty="0"/>
              <a:t> </a:t>
            </a:r>
            <a:r>
              <a:rPr lang="en-US" sz="3200" err="1"/>
              <a:t>Objetivo</a:t>
            </a:r>
            <a:r>
              <a:rPr lang="en-US" sz="3200" dirty="0"/>
              <a:t>: </a:t>
            </a:r>
            <a:r>
              <a:rPr lang="en-US" sz="3200" err="1"/>
              <a:t>apresentar</a:t>
            </a:r>
            <a:r>
              <a:rPr lang="en-US" sz="3200" dirty="0"/>
              <a:t> </a:t>
            </a:r>
            <a:r>
              <a:rPr lang="en-US" sz="3200" err="1"/>
              <a:t>conceito</a:t>
            </a:r>
            <a:r>
              <a:rPr lang="en-US" sz="3200" dirty="0"/>
              <a:t> e </a:t>
            </a:r>
            <a:r>
              <a:rPr lang="en-US" sz="3200" err="1"/>
              <a:t>coletar</a:t>
            </a:r>
            <a:r>
              <a:rPr lang="en-US" sz="3200" dirty="0"/>
              <a:t> feedback</a:t>
            </a:r>
            <a:endParaRPr lang="en-US">
              <a:ea typeface="Calibri"/>
              <a:cs typeface="Calibri"/>
            </a:endParaRPr>
          </a:p>
          <a:p>
            <a:endParaRPr dirty="0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94DB8-F0D4-7DE1-2476-7304FD6418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endParaRPr dirty="0"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1E1F2B-BEF9-85B7-8EA6-55249C842ACF}"/>
              </a:ext>
            </a:extLst>
          </p:cNvPr>
          <p:cNvSpPr txBox="1"/>
          <p:nvPr/>
        </p:nvSpPr>
        <p:spPr>
          <a:xfrm>
            <a:off x="397767" y="1520878"/>
            <a:ext cx="8259541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O </a:t>
            </a:r>
            <a:r>
              <a:rPr lang="en-US" b="1" dirty="0">
                <a:ea typeface="+mn-lt"/>
                <a:cs typeface="+mn-lt"/>
              </a:rPr>
              <a:t>Projecto Gaia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ainda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está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fase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concepção</a:t>
            </a:r>
            <a:r>
              <a:rPr lang="en-US" dirty="0">
                <a:ea typeface="+mn-lt"/>
                <a:cs typeface="+mn-lt"/>
              </a:rPr>
              <a:t>. O </a:t>
            </a:r>
            <a:r>
              <a:rPr lang="en-US" dirty="0" err="1">
                <a:ea typeface="+mn-lt"/>
                <a:cs typeface="+mn-lt"/>
              </a:rPr>
              <a:t>objetivo</a:t>
            </a:r>
            <a:r>
              <a:rPr lang="en-US" dirty="0">
                <a:ea typeface="+mn-lt"/>
                <a:cs typeface="+mn-lt"/>
              </a:rPr>
              <a:t> principal </a:t>
            </a:r>
            <a:r>
              <a:rPr lang="en-US" dirty="0" err="1">
                <a:ea typeface="+mn-lt"/>
                <a:cs typeface="+mn-lt"/>
              </a:rPr>
              <a:t>neste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momento</a:t>
            </a:r>
            <a:r>
              <a:rPr lang="en-US" dirty="0">
                <a:ea typeface="+mn-lt"/>
                <a:cs typeface="+mn-lt"/>
              </a:rPr>
              <a:t> é: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 err="1">
                <a:ea typeface="+mn-lt"/>
                <a:cs typeface="+mn-lt"/>
              </a:rPr>
              <a:t>Apresentar</a:t>
            </a:r>
            <a:r>
              <a:rPr lang="en-US" b="1" dirty="0">
                <a:ea typeface="+mn-lt"/>
                <a:cs typeface="+mn-lt"/>
              </a:rPr>
              <a:t> o </a:t>
            </a:r>
            <a:r>
              <a:rPr lang="en-US" b="1" dirty="0" err="1">
                <a:ea typeface="+mn-lt"/>
                <a:cs typeface="+mn-lt"/>
              </a:rPr>
              <a:t>conceito</a:t>
            </a:r>
            <a:r>
              <a:rPr lang="en-US" b="1" dirty="0">
                <a:ea typeface="+mn-lt"/>
                <a:cs typeface="+mn-lt"/>
              </a:rPr>
              <a:t> da suite de </a:t>
            </a:r>
            <a:r>
              <a:rPr lang="en-US" b="1" dirty="0" err="1">
                <a:ea typeface="+mn-lt"/>
                <a:cs typeface="+mn-lt"/>
              </a:rPr>
              <a:t>softwares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profissionais</a:t>
            </a:r>
            <a:r>
              <a:rPr lang="en-US" dirty="0">
                <a:ea typeface="+mn-lt"/>
                <a:cs typeface="+mn-lt"/>
              </a:rPr>
              <a:t> da </a:t>
            </a:r>
            <a:r>
              <a:rPr lang="en-US" dirty="0" err="1">
                <a:ea typeface="+mn-lt"/>
                <a:cs typeface="+mn-lt"/>
              </a:rPr>
              <a:t>indústria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petrolífera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angolana</a:t>
            </a:r>
            <a:endParaRPr lang="en-US" dirty="0" err="1"/>
          </a:p>
          <a:p>
            <a:pPr marL="285750" indent="-285750">
              <a:buFont typeface="Arial"/>
              <a:buChar char="•"/>
            </a:pPr>
            <a:r>
              <a:rPr lang="en-US" b="1" dirty="0" err="1">
                <a:ea typeface="+mn-lt"/>
                <a:cs typeface="+mn-lt"/>
              </a:rPr>
              <a:t>Coletar</a:t>
            </a:r>
            <a:r>
              <a:rPr lang="en-US" b="1" dirty="0">
                <a:ea typeface="+mn-lt"/>
                <a:cs typeface="+mn-lt"/>
              </a:rPr>
              <a:t> feedback </a:t>
            </a:r>
            <a:r>
              <a:rPr lang="en-US" b="1" dirty="0" err="1">
                <a:ea typeface="+mn-lt"/>
                <a:cs typeface="+mn-lt"/>
              </a:rPr>
              <a:t>técnico</a:t>
            </a:r>
            <a:r>
              <a:rPr lang="en-US" b="1" dirty="0">
                <a:ea typeface="+mn-lt"/>
                <a:cs typeface="+mn-lt"/>
              </a:rPr>
              <a:t> e </a:t>
            </a:r>
            <a:r>
              <a:rPr lang="en-US" b="1" dirty="0" err="1">
                <a:ea typeface="+mn-lt"/>
                <a:cs typeface="+mn-lt"/>
              </a:rPr>
              <a:t>estratégico</a:t>
            </a:r>
            <a:r>
              <a:rPr lang="en-US" dirty="0">
                <a:ea typeface="+mn-lt"/>
                <a:cs typeface="+mn-lt"/>
              </a:rPr>
              <a:t> para </a:t>
            </a:r>
            <a:r>
              <a:rPr lang="en-US" dirty="0" err="1">
                <a:ea typeface="+mn-lt"/>
                <a:cs typeface="+mn-lt"/>
              </a:rPr>
              <a:t>validar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relevância</a:t>
            </a:r>
            <a:r>
              <a:rPr lang="en-US" dirty="0">
                <a:ea typeface="+mn-lt"/>
                <a:cs typeface="+mn-lt"/>
              </a:rPr>
              <a:t> da </a:t>
            </a:r>
            <a:r>
              <a:rPr lang="en-US" dirty="0" err="1">
                <a:ea typeface="+mn-lt"/>
                <a:cs typeface="+mn-lt"/>
              </a:rPr>
              <a:t>proposta</a:t>
            </a:r>
            <a:endParaRPr lang="en-US" dirty="0" err="1"/>
          </a:p>
          <a:p>
            <a:pPr marL="285750" indent="-285750">
              <a:buFont typeface="Arial"/>
              <a:buChar char="•"/>
            </a:pPr>
            <a:r>
              <a:rPr lang="en-US" b="1" dirty="0" err="1">
                <a:ea typeface="+mn-lt"/>
                <a:cs typeface="+mn-lt"/>
              </a:rPr>
              <a:t>Identificar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necessidades</a:t>
            </a:r>
            <a:r>
              <a:rPr lang="en-US" b="1" dirty="0">
                <a:ea typeface="+mn-lt"/>
                <a:cs typeface="+mn-lt"/>
              </a:rPr>
              <a:t> reais do mercado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oportunidades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parceria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apoio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institucional</a:t>
            </a:r>
            <a:endParaRPr lang="en-US" dirty="0" err="1"/>
          </a:p>
          <a:p>
            <a:pPr marL="285750" indent="-285750">
              <a:buFont typeface="Arial"/>
              <a:buChar char="•"/>
            </a:pPr>
            <a:r>
              <a:rPr lang="en-US" b="1" dirty="0" err="1">
                <a:ea typeface="+mn-lt"/>
                <a:cs typeface="+mn-lt"/>
              </a:rPr>
              <a:t>Refinar</a:t>
            </a:r>
            <a:r>
              <a:rPr lang="en-US" b="1" dirty="0">
                <a:ea typeface="+mn-lt"/>
                <a:cs typeface="+mn-lt"/>
              </a:rPr>
              <a:t> o </a:t>
            </a:r>
            <a:r>
              <a:rPr lang="en-US" b="1" dirty="0" err="1">
                <a:ea typeface="+mn-lt"/>
                <a:cs typeface="+mn-lt"/>
              </a:rPr>
              <a:t>escopo</a:t>
            </a:r>
            <a:r>
              <a:rPr lang="en-US" b="1" dirty="0">
                <a:ea typeface="+mn-lt"/>
                <a:cs typeface="+mn-lt"/>
              </a:rPr>
              <a:t> do </a:t>
            </a:r>
            <a:r>
              <a:rPr lang="en-US" b="1" dirty="0" err="1">
                <a:ea typeface="+mn-lt"/>
                <a:cs typeface="+mn-lt"/>
              </a:rPr>
              <a:t>projeto</a:t>
            </a:r>
            <a:r>
              <a:rPr lang="en-US" dirty="0">
                <a:ea typeface="+mn-lt"/>
                <a:cs typeface="+mn-lt"/>
              </a:rPr>
              <a:t> com base </a:t>
            </a:r>
            <a:r>
              <a:rPr lang="en-US" dirty="0" err="1">
                <a:ea typeface="+mn-lt"/>
                <a:cs typeface="+mn-lt"/>
              </a:rPr>
              <a:t>em</a:t>
            </a:r>
            <a:r>
              <a:rPr lang="en-US" dirty="0">
                <a:ea typeface="+mn-lt"/>
                <a:cs typeface="+mn-lt"/>
              </a:rPr>
              <a:t> insights </a:t>
            </a:r>
            <a:r>
              <a:rPr lang="en-US" dirty="0" err="1">
                <a:ea typeface="+mn-lt"/>
                <a:cs typeface="+mn-lt"/>
              </a:rPr>
              <a:t>práticos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quem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está</a:t>
            </a:r>
            <a:r>
              <a:rPr lang="en-US" dirty="0">
                <a:ea typeface="+mn-lt"/>
                <a:cs typeface="+mn-lt"/>
              </a:rPr>
              <a:t> no campo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Esta </a:t>
            </a:r>
            <a:r>
              <a:rPr lang="en-US" dirty="0" err="1">
                <a:ea typeface="+mn-lt"/>
                <a:cs typeface="+mn-lt"/>
              </a:rPr>
              <a:t>etapa</a:t>
            </a:r>
            <a:r>
              <a:rPr lang="en-US" dirty="0">
                <a:ea typeface="+mn-lt"/>
                <a:cs typeface="+mn-lt"/>
              </a:rPr>
              <a:t> é </a:t>
            </a:r>
            <a:r>
              <a:rPr lang="en-US" dirty="0" err="1">
                <a:ea typeface="+mn-lt"/>
                <a:cs typeface="+mn-lt"/>
              </a:rPr>
              <a:t>essencial</a:t>
            </a:r>
            <a:r>
              <a:rPr lang="en-US" dirty="0">
                <a:ea typeface="+mn-lt"/>
                <a:cs typeface="+mn-lt"/>
              </a:rPr>
              <a:t> para </a:t>
            </a:r>
            <a:r>
              <a:rPr lang="en-US" dirty="0" err="1">
                <a:ea typeface="+mn-lt"/>
                <a:cs typeface="+mn-lt"/>
              </a:rPr>
              <a:t>garantir</a:t>
            </a:r>
            <a:r>
              <a:rPr lang="en-US" dirty="0">
                <a:ea typeface="+mn-lt"/>
                <a:cs typeface="+mn-lt"/>
              </a:rPr>
              <a:t> que </a:t>
            </a:r>
            <a:r>
              <a:rPr lang="en-US" dirty="0" err="1">
                <a:ea typeface="+mn-lt"/>
                <a:cs typeface="+mn-lt"/>
              </a:rPr>
              <a:t>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desenvolvimento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futuro</a:t>
            </a:r>
            <a:r>
              <a:rPr lang="en-US" dirty="0">
                <a:ea typeface="+mn-lt"/>
                <a:cs typeface="+mn-lt"/>
              </a:rPr>
              <a:t> da </a:t>
            </a:r>
            <a:r>
              <a:rPr lang="en-US" dirty="0" err="1">
                <a:ea typeface="+mn-lt"/>
                <a:cs typeface="+mn-lt"/>
              </a:rPr>
              <a:t>plataforma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seja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bem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direcionado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útil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desejado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pelo</a:t>
            </a:r>
            <a:r>
              <a:rPr lang="en-US" dirty="0">
                <a:ea typeface="+mn-lt"/>
                <a:cs typeface="+mn-lt"/>
              </a:rPr>
              <a:t> mercado-</a:t>
            </a:r>
            <a:r>
              <a:rPr lang="en-US" dirty="0" err="1">
                <a:ea typeface="+mn-lt"/>
                <a:cs typeface="+mn-lt"/>
              </a:rPr>
              <a:t>alvo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18277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ea typeface="+mj-lt"/>
                <a:cs typeface="+mj-lt"/>
              </a:rPr>
              <a:t>Visão</a:t>
            </a:r>
            <a:r>
              <a:rPr lang="en-US" dirty="0">
                <a:ea typeface="+mj-lt"/>
                <a:cs typeface="+mj-lt"/>
              </a:rPr>
              <a:t>: Ser </a:t>
            </a:r>
            <a:r>
              <a:rPr lang="en-US" dirty="0" err="1">
                <a:ea typeface="+mj-lt"/>
                <a:cs typeface="+mj-lt"/>
              </a:rPr>
              <a:t>Referência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em</a:t>
            </a:r>
            <a:r>
              <a:rPr lang="en-US" dirty="0">
                <a:ea typeface="+mj-lt"/>
                <a:cs typeface="+mj-lt"/>
              </a:rPr>
              <a:t> Angola e </a:t>
            </a:r>
            <a:r>
              <a:rPr lang="en-US" dirty="0" err="1">
                <a:ea typeface="+mj-lt"/>
                <a:cs typeface="+mj-lt"/>
              </a:rPr>
              <a:t>Países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Lusófonos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O </a:t>
            </a:r>
            <a:r>
              <a:rPr lang="en-US" b="1" dirty="0">
                <a:ea typeface="+mn-lt"/>
                <a:cs typeface="+mn-lt"/>
              </a:rPr>
              <a:t>Projecto Gaia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tem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como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visão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longo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prazo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Tornar</a:t>
            </a:r>
            <a:r>
              <a:rPr lang="en-US" dirty="0">
                <a:ea typeface="+mn-lt"/>
                <a:cs typeface="+mn-lt"/>
              </a:rPr>
              <a:t>-se a principal </a:t>
            </a:r>
            <a:r>
              <a:rPr lang="en-US" dirty="0" err="1">
                <a:ea typeface="+mn-lt"/>
                <a:cs typeface="+mn-lt"/>
              </a:rPr>
              <a:t>plataforma</a:t>
            </a:r>
            <a:r>
              <a:rPr lang="en-US" dirty="0">
                <a:ea typeface="+mn-lt"/>
                <a:cs typeface="+mn-lt"/>
              </a:rPr>
              <a:t> digital para </a:t>
            </a:r>
            <a:r>
              <a:rPr lang="en-US" dirty="0" err="1">
                <a:ea typeface="+mn-lt"/>
                <a:cs typeface="+mn-lt"/>
              </a:rPr>
              <a:t>engenheiros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petróleo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em</a:t>
            </a:r>
            <a:r>
              <a:rPr lang="en-US" dirty="0">
                <a:ea typeface="+mn-lt"/>
                <a:cs typeface="+mn-lt"/>
              </a:rPr>
              <a:t> Angola e </a:t>
            </a:r>
            <a:r>
              <a:rPr lang="en-US" dirty="0" err="1">
                <a:ea typeface="+mn-lt"/>
                <a:cs typeface="+mn-lt"/>
              </a:rPr>
              <a:t>nos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países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lusófonos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oferecendo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soluções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integradas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inteligentes</a:t>
            </a:r>
            <a:r>
              <a:rPr lang="en-US" dirty="0">
                <a:ea typeface="+mn-lt"/>
                <a:cs typeface="+mn-lt"/>
              </a:rPr>
              <a:t> que </a:t>
            </a:r>
            <a:r>
              <a:rPr lang="en-US" dirty="0" err="1">
                <a:ea typeface="+mn-lt"/>
                <a:cs typeface="+mn-lt"/>
              </a:rPr>
              <a:t>respondam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às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realidades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técnicas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econômicas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operacionais</a:t>
            </a:r>
            <a:r>
              <a:rPr lang="en-US" dirty="0">
                <a:ea typeface="+mn-lt"/>
                <a:cs typeface="+mn-lt"/>
              </a:rPr>
              <a:t> da </a:t>
            </a:r>
            <a:r>
              <a:rPr lang="en-US" dirty="0" err="1">
                <a:ea typeface="+mn-lt"/>
                <a:cs typeface="+mn-lt"/>
              </a:rPr>
              <a:t>região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b="1" dirty="0" err="1">
                <a:ea typeface="+mn-lt"/>
                <a:cs typeface="+mn-lt"/>
              </a:rPr>
              <a:t>Diferenciais</a:t>
            </a:r>
            <a:r>
              <a:rPr lang="en-US" b="1" dirty="0">
                <a:ea typeface="+mn-lt"/>
                <a:cs typeface="+mn-lt"/>
              </a:rPr>
              <a:t> que </a:t>
            </a:r>
            <a:r>
              <a:rPr lang="en-US" b="1" dirty="0" err="1">
                <a:ea typeface="+mn-lt"/>
                <a:cs typeface="+mn-lt"/>
              </a:rPr>
              <a:t>sustentam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essa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visão</a:t>
            </a:r>
            <a:r>
              <a:rPr lang="en-US" b="1" dirty="0">
                <a:ea typeface="+mn-lt"/>
                <a:cs typeface="+mn-lt"/>
              </a:rPr>
              <a:t>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Foco no </a:t>
            </a:r>
            <a:r>
              <a:rPr lang="en-US" dirty="0" err="1">
                <a:ea typeface="+mn-lt"/>
                <a:cs typeface="+mn-lt"/>
              </a:rPr>
              <a:t>contexto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angolano</a:t>
            </a:r>
            <a:r>
              <a:rPr lang="en-US" dirty="0">
                <a:ea typeface="+mn-lt"/>
                <a:cs typeface="+mn-lt"/>
              </a:rPr>
              <a:t>: dados </a:t>
            </a:r>
            <a:r>
              <a:rPr lang="en-US" dirty="0" err="1">
                <a:ea typeface="+mn-lt"/>
                <a:cs typeface="+mn-lt"/>
              </a:rPr>
              <a:t>locais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regulamentações</a:t>
            </a:r>
            <a:r>
              <a:rPr lang="en-US" dirty="0">
                <a:ea typeface="+mn-lt"/>
                <a:cs typeface="+mn-lt"/>
              </a:rPr>
              <a:t> da Sonangol e </a:t>
            </a:r>
            <a:r>
              <a:rPr lang="en-US" dirty="0" err="1">
                <a:ea typeface="+mn-lt"/>
                <a:cs typeface="+mn-lt"/>
              </a:rPr>
              <a:t>infraestrutura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nacional</a:t>
            </a:r>
            <a:endParaRPr lang="en-US" dirty="0" err="1"/>
          </a:p>
          <a:p>
            <a:r>
              <a:rPr lang="en-US" dirty="0" err="1">
                <a:ea typeface="+mn-lt"/>
                <a:cs typeface="+mn-lt"/>
              </a:rPr>
              <a:t>Linguagem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acessível</a:t>
            </a:r>
            <a:r>
              <a:rPr lang="en-US" dirty="0">
                <a:ea typeface="+mn-lt"/>
                <a:cs typeface="+mn-lt"/>
              </a:rPr>
              <a:t>, interface </a:t>
            </a:r>
            <a:r>
              <a:rPr lang="en-US" dirty="0" err="1">
                <a:ea typeface="+mn-lt"/>
                <a:cs typeface="+mn-lt"/>
              </a:rPr>
              <a:t>adaptada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suporte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alinhado</a:t>
            </a:r>
            <a:r>
              <a:rPr lang="en-US" dirty="0">
                <a:ea typeface="+mn-lt"/>
                <a:cs typeface="+mn-lt"/>
              </a:rPr>
              <a:t> com o mercado de </a:t>
            </a:r>
            <a:r>
              <a:rPr lang="en-US" dirty="0" err="1">
                <a:ea typeface="+mn-lt"/>
                <a:cs typeface="+mn-lt"/>
              </a:rPr>
              <a:t>língua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portuguesa</a:t>
            </a:r>
            <a:endParaRPr lang="en-US" dirty="0" err="1"/>
          </a:p>
          <a:p>
            <a:r>
              <a:rPr lang="en-US" dirty="0" err="1">
                <a:ea typeface="+mn-lt"/>
                <a:cs typeface="+mn-lt"/>
              </a:rPr>
              <a:t>Integração</a:t>
            </a:r>
            <a:r>
              <a:rPr lang="en-US" dirty="0">
                <a:ea typeface="+mn-lt"/>
                <a:cs typeface="+mn-lt"/>
              </a:rPr>
              <a:t> das </a:t>
            </a:r>
            <a:r>
              <a:rPr lang="en-US" dirty="0" err="1">
                <a:ea typeface="+mn-lt"/>
                <a:cs typeface="+mn-lt"/>
              </a:rPr>
              <a:t>áreas-chave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produção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perfuração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reservatórios</a:t>
            </a:r>
            <a:r>
              <a:rPr lang="en-US" dirty="0">
                <a:ea typeface="+mn-lt"/>
                <a:cs typeface="+mn-lt"/>
              </a:rPr>
              <a:t>) com </a:t>
            </a:r>
            <a:r>
              <a:rPr lang="en-US" dirty="0" err="1">
                <a:ea typeface="+mn-lt"/>
                <a:cs typeface="+mn-lt"/>
              </a:rPr>
              <a:t>inteligência</a:t>
            </a:r>
            <a:r>
              <a:rPr lang="en-US" dirty="0">
                <a:ea typeface="+mn-lt"/>
                <a:cs typeface="+mn-lt"/>
              </a:rPr>
              <a:t> artificial </a:t>
            </a:r>
            <a:r>
              <a:rPr lang="en-US" dirty="0" err="1">
                <a:ea typeface="+mn-lt"/>
                <a:cs typeface="+mn-lt"/>
              </a:rPr>
              <a:t>aplicada</a:t>
            </a:r>
            <a:endParaRPr lang="en-US" dirty="0" err="1"/>
          </a:p>
          <a:p>
            <a:r>
              <a:rPr lang="en-US" dirty="0" err="1">
                <a:ea typeface="+mn-lt"/>
                <a:cs typeface="+mn-lt"/>
              </a:rPr>
              <a:t>Contribuição</a:t>
            </a:r>
            <a:r>
              <a:rPr lang="en-US" dirty="0">
                <a:ea typeface="+mn-lt"/>
                <a:cs typeface="+mn-lt"/>
              </a:rPr>
              <a:t> para a </a:t>
            </a:r>
            <a:r>
              <a:rPr lang="en-US" dirty="0" err="1">
                <a:ea typeface="+mn-lt"/>
                <a:cs typeface="+mn-lt"/>
              </a:rPr>
              <a:t>soberania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tecnológica</a:t>
            </a:r>
            <a:r>
              <a:rPr lang="en-US" dirty="0">
                <a:ea typeface="+mn-lt"/>
                <a:cs typeface="+mn-lt"/>
              </a:rPr>
              <a:t> do </a:t>
            </a:r>
            <a:r>
              <a:rPr lang="en-US" dirty="0" err="1">
                <a:ea typeface="+mn-lt"/>
                <a:cs typeface="+mn-lt"/>
              </a:rPr>
              <a:t>setor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petrolífero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países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lusófonos</a:t>
            </a:r>
          </a:p>
          <a:p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92014-B2B0-0D17-865F-2E75CC9D6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2A082-DA9F-708C-75DE-CE949436B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ea typeface="+mj-lt"/>
                <a:cs typeface="+mj-lt"/>
              </a:rPr>
              <a:t>Integração</a:t>
            </a:r>
            <a:r>
              <a:rPr lang="en-US" dirty="0">
                <a:ea typeface="+mj-lt"/>
                <a:cs typeface="+mj-lt"/>
              </a:rPr>
              <a:t> dos </a:t>
            </a:r>
            <a:r>
              <a:rPr lang="en-US" dirty="0" err="1">
                <a:ea typeface="+mj-lt"/>
                <a:cs typeface="+mj-lt"/>
              </a:rPr>
              <a:t>Módulos</a:t>
            </a:r>
            <a:r>
              <a:rPr lang="en-US" dirty="0">
                <a:ea typeface="+mj-lt"/>
                <a:cs typeface="+mj-lt"/>
              </a:rPr>
              <a:t> Gaia Nuru, </a:t>
            </a:r>
            <a:r>
              <a:rPr lang="en-US" dirty="0" err="1">
                <a:ea typeface="+mj-lt"/>
                <a:cs typeface="+mj-lt"/>
              </a:rPr>
              <a:t>Noxus</a:t>
            </a:r>
            <a:r>
              <a:rPr lang="en-US" dirty="0">
                <a:ea typeface="+mj-lt"/>
                <a:cs typeface="+mj-lt"/>
              </a:rPr>
              <a:t> e Genesis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FAB8C-BBE8-85D3-0284-ED44B3172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47500" lnSpcReduction="20000"/>
          </a:bodyPr>
          <a:lstStyle/>
          <a:p>
            <a:r>
              <a:rPr lang="en-US">
                <a:ea typeface="+mn-lt"/>
                <a:cs typeface="+mn-lt"/>
              </a:rPr>
              <a:t>O </a:t>
            </a:r>
            <a:r>
              <a:rPr lang="en-US" b="1">
                <a:ea typeface="+mn-lt"/>
                <a:cs typeface="+mn-lt"/>
              </a:rPr>
              <a:t>Projecto Gaia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propõe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uma</a:t>
            </a:r>
            <a:r>
              <a:rPr lang="en-US">
                <a:ea typeface="+mn-lt"/>
                <a:cs typeface="+mn-lt"/>
              </a:rPr>
              <a:t> suite </a:t>
            </a:r>
            <a:r>
              <a:rPr lang="en-US" err="1">
                <a:ea typeface="+mn-lt"/>
                <a:cs typeface="+mn-lt"/>
              </a:rPr>
              <a:t>unificada</a:t>
            </a:r>
            <a:r>
              <a:rPr lang="en-US">
                <a:ea typeface="+mn-lt"/>
                <a:cs typeface="+mn-lt"/>
              </a:rPr>
              <a:t> que integra </a:t>
            </a:r>
            <a:r>
              <a:rPr lang="en-US" err="1">
                <a:ea typeface="+mn-lt"/>
                <a:cs typeface="+mn-lt"/>
              </a:rPr>
              <a:t>três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módulos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especializados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cobrindo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todas</a:t>
            </a:r>
            <a:r>
              <a:rPr lang="en-US">
                <a:ea typeface="+mn-lt"/>
                <a:cs typeface="+mn-lt"/>
              </a:rPr>
              <a:t> as </a:t>
            </a:r>
            <a:r>
              <a:rPr lang="en-US" err="1">
                <a:ea typeface="+mn-lt"/>
                <a:cs typeface="+mn-lt"/>
              </a:rPr>
              <a:t>fases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críticas</a:t>
            </a:r>
            <a:r>
              <a:rPr lang="en-US">
                <a:ea typeface="+mn-lt"/>
                <a:cs typeface="+mn-lt"/>
              </a:rPr>
              <a:t> da </a:t>
            </a:r>
            <a:r>
              <a:rPr lang="en-US" err="1">
                <a:ea typeface="+mn-lt"/>
                <a:cs typeface="+mn-lt"/>
              </a:rPr>
              <a:t>engenharia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petróleo</a:t>
            </a:r>
            <a:r>
              <a:rPr lang="en-US">
                <a:ea typeface="+mn-lt"/>
                <a:cs typeface="+mn-lt"/>
              </a:rPr>
              <a:t>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🔹 </a:t>
            </a:r>
            <a:r>
              <a:rPr lang="en-US" b="1">
                <a:ea typeface="+mn-lt"/>
                <a:cs typeface="+mn-lt"/>
              </a:rPr>
              <a:t>Gaia Nuru</a:t>
            </a:r>
            <a:r>
              <a:rPr lang="en-US">
                <a:ea typeface="+mn-lt"/>
                <a:cs typeface="+mn-lt"/>
              </a:rPr>
              <a:t> – </a:t>
            </a:r>
            <a:r>
              <a:rPr lang="en-US" err="1">
                <a:ea typeface="+mn-lt"/>
                <a:cs typeface="+mn-lt"/>
              </a:rPr>
              <a:t>Engenharia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Produção</a:t>
            </a:r>
            <a:endParaRPr lang="en-US" err="1"/>
          </a:p>
          <a:p>
            <a:r>
              <a:rPr lang="en-US" dirty="0" err="1">
                <a:ea typeface="+mn-lt"/>
                <a:cs typeface="+mn-lt"/>
              </a:rPr>
              <a:t>Monitoramento</a:t>
            </a:r>
            <a:r>
              <a:rPr lang="en-US" dirty="0">
                <a:ea typeface="+mn-lt"/>
                <a:cs typeface="+mn-lt"/>
              </a:rPr>
              <a:t> da </a:t>
            </a:r>
            <a:r>
              <a:rPr lang="en-US" dirty="0" err="1">
                <a:ea typeface="+mn-lt"/>
                <a:cs typeface="+mn-lt"/>
              </a:rPr>
              <a:t>produção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em</a:t>
            </a:r>
            <a:r>
              <a:rPr lang="en-US" dirty="0">
                <a:ea typeface="+mn-lt"/>
                <a:cs typeface="+mn-lt"/>
              </a:rPr>
              <a:t> tempo real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Curvas IPR e VLP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Alertas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anomalias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operacionais</a:t>
            </a:r>
            <a:endParaRPr dirty="0" err="1"/>
          </a:p>
          <a:p>
            <a:r>
              <a:rPr lang="en-US" dirty="0">
                <a:ea typeface="+mn-lt"/>
                <a:cs typeface="+mn-lt"/>
              </a:rPr>
              <a:t>🔹 </a:t>
            </a:r>
            <a:r>
              <a:rPr lang="en-US" b="1" dirty="0">
                <a:ea typeface="+mn-lt"/>
                <a:cs typeface="+mn-lt"/>
              </a:rPr>
              <a:t>Gaia </a:t>
            </a:r>
            <a:r>
              <a:rPr lang="en-US" b="1" dirty="0" err="1">
                <a:ea typeface="+mn-lt"/>
                <a:cs typeface="+mn-lt"/>
              </a:rPr>
              <a:t>Noxus</a:t>
            </a:r>
            <a:r>
              <a:rPr lang="en-US" dirty="0">
                <a:ea typeface="+mn-lt"/>
                <a:cs typeface="+mn-lt"/>
              </a:rPr>
              <a:t> – </a:t>
            </a:r>
            <a:r>
              <a:rPr lang="en-US" dirty="0" err="1">
                <a:ea typeface="+mn-lt"/>
                <a:cs typeface="+mn-lt"/>
              </a:rPr>
              <a:t>Engenharia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Perfuração</a:t>
            </a:r>
            <a:endParaRPr lang="en-US" dirty="0" err="1"/>
          </a:p>
          <a:p>
            <a:r>
              <a:rPr lang="en-US" dirty="0" err="1">
                <a:ea typeface="+mn-lt"/>
                <a:cs typeface="+mn-lt"/>
              </a:rPr>
              <a:t>Planejamento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poços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verticais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desviados</a:t>
            </a:r>
            <a:r>
              <a:rPr lang="en-US" dirty="0">
                <a:ea typeface="+mn-lt"/>
                <a:cs typeface="+mn-lt"/>
              </a:rPr>
              <a:t>)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Monitoramento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parâmetros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como</a:t>
            </a:r>
            <a:r>
              <a:rPr lang="en-US" dirty="0">
                <a:ea typeface="+mn-lt"/>
                <a:cs typeface="+mn-lt"/>
              </a:rPr>
              <a:t> ROP, WOB e torque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Alertas</a:t>
            </a:r>
            <a:r>
              <a:rPr lang="en-US" dirty="0">
                <a:ea typeface="+mn-lt"/>
                <a:cs typeface="+mn-lt"/>
              </a:rPr>
              <a:t> de kick e </a:t>
            </a:r>
            <a:r>
              <a:rPr lang="en-US" dirty="0" err="1">
                <a:ea typeface="+mn-lt"/>
                <a:cs typeface="+mn-lt"/>
              </a:rPr>
              <a:t>perda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circulação</a:t>
            </a:r>
            <a:endParaRPr lang="en-US" dirty="0" err="1"/>
          </a:p>
          <a:p>
            <a:r>
              <a:rPr lang="en-US" dirty="0">
                <a:ea typeface="+mn-lt"/>
                <a:cs typeface="+mn-lt"/>
              </a:rPr>
              <a:t>🔹 </a:t>
            </a:r>
            <a:r>
              <a:rPr lang="en-US" b="1" dirty="0">
                <a:ea typeface="+mn-lt"/>
                <a:cs typeface="+mn-lt"/>
              </a:rPr>
              <a:t>Gaia Genesis</a:t>
            </a:r>
            <a:r>
              <a:rPr lang="en-US" dirty="0">
                <a:ea typeface="+mn-lt"/>
                <a:cs typeface="+mn-lt"/>
              </a:rPr>
              <a:t> – </a:t>
            </a:r>
            <a:r>
              <a:rPr lang="en-US" dirty="0" err="1">
                <a:ea typeface="+mn-lt"/>
                <a:cs typeface="+mn-lt"/>
              </a:rPr>
              <a:t>Engenharia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Reservatórios</a:t>
            </a:r>
            <a:endParaRPr lang="en-US" dirty="0" err="1"/>
          </a:p>
          <a:p>
            <a:r>
              <a:rPr lang="en-US" dirty="0" err="1">
                <a:ea typeface="+mn-lt"/>
                <a:cs typeface="+mn-lt"/>
              </a:rPr>
              <a:t>Cálculo</a:t>
            </a:r>
            <a:r>
              <a:rPr lang="en-US" dirty="0">
                <a:ea typeface="+mn-lt"/>
                <a:cs typeface="+mn-lt"/>
              </a:rPr>
              <a:t> do </a:t>
            </a:r>
            <a:r>
              <a:rPr lang="en-US" dirty="0" err="1">
                <a:ea typeface="+mn-lt"/>
                <a:cs typeface="+mn-lt"/>
              </a:rPr>
              <a:t>fator</a:t>
            </a:r>
            <a:r>
              <a:rPr lang="en-US" dirty="0">
                <a:ea typeface="+mn-lt"/>
                <a:cs typeface="+mn-lt"/>
              </a:rPr>
              <a:t> Z e </a:t>
            </a:r>
            <a:r>
              <a:rPr lang="en-US" dirty="0" err="1">
                <a:ea typeface="+mn-lt"/>
                <a:cs typeface="+mn-lt"/>
              </a:rPr>
              <a:t>compressibilidade</a:t>
            </a:r>
            <a:endParaRPr lang="en-US" dirty="0" err="1"/>
          </a:p>
          <a:p>
            <a:r>
              <a:rPr lang="en-US" dirty="0" err="1">
                <a:ea typeface="+mn-lt"/>
                <a:cs typeface="+mn-lt"/>
              </a:rPr>
              <a:t>Análise</a:t>
            </a:r>
            <a:r>
              <a:rPr lang="en-US" dirty="0">
                <a:ea typeface="+mn-lt"/>
                <a:cs typeface="+mn-lt"/>
              </a:rPr>
              <a:t> de curvas de </a:t>
            </a:r>
            <a:r>
              <a:rPr lang="en-US" dirty="0" err="1">
                <a:ea typeface="+mn-lt"/>
                <a:cs typeface="+mn-lt"/>
              </a:rPr>
              <a:t>declínio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balanço</a:t>
            </a:r>
            <a:r>
              <a:rPr lang="en-US" dirty="0">
                <a:ea typeface="+mn-lt"/>
                <a:cs typeface="+mn-lt"/>
              </a:rPr>
              <a:t> de material</a:t>
            </a:r>
            <a:endParaRPr dirty="0"/>
          </a:p>
          <a:p>
            <a:r>
              <a:rPr lang="en-US" dirty="0" err="1">
                <a:ea typeface="+mn-lt"/>
                <a:cs typeface="+mn-lt"/>
              </a:rPr>
              <a:t>Geração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relatórios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por</a:t>
            </a:r>
            <a:r>
              <a:rPr lang="en-US" dirty="0">
                <a:ea typeface="+mn-lt"/>
                <a:cs typeface="+mn-lt"/>
              </a:rPr>
              <a:t> zona</a:t>
            </a:r>
            <a:endParaRPr lang="en-US" dirty="0"/>
          </a:p>
          <a:p>
            <a:r>
              <a:rPr lang="en-US" b="1" dirty="0" err="1">
                <a:ea typeface="+mn-lt"/>
                <a:cs typeface="+mn-lt"/>
              </a:rPr>
              <a:t>Benefício-chave</a:t>
            </a:r>
            <a:r>
              <a:rPr lang="en-US" b="1" dirty="0">
                <a:ea typeface="+mn-lt"/>
                <a:cs typeface="+mn-lt"/>
              </a:rPr>
              <a:t>: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Eliminação</a:t>
            </a:r>
            <a:r>
              <a:rPr lang="en-US" b="1" dirty="0">
                <a:ea typeface="+mn-lt"/>
                <a:cs typeface="+mn-lt"/>
              </a:rPr>
              <a:t> da </a:t>
            </a:r>
            <a:r>
              <a:rPr lang="en-US" b="1" dirty="0" err="1">
                <a:ea typeface="+mn-lt"/>
                <a:cs typeface="+mn-lt"/>
              </a:rPr>
              <a:t>fragmentação</a:t>
            </a:r>
            <a:r>
              <a:rPr lang="en-US" b="1" dirty="0">
                <a:ea typeface="+mn-lt"/>
                <a:cs typeface="+mn-lt"/>
              </a:rPr>
              <a:t> entre ferramentas, </a:t>
            </a:r>
            <a:r>
              <a:rPr lang="en-US" b="1" dirty="0" err="1">
                <a:ea typeface="+mn-lt"/>
                <a:cs typeface="+mn-lt"/>
              </a:rPr>
              <a:t>promovendo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colaboração</a:t>
            </a:r>
            <a:r>
              <a:rPr lang="en-US" b="1" dirty="0">
                <a:ea typeface="+mn-lt"/>
                <a:cs typeface="+mn-lt"/>
              </a:rPr>
              <a:t> entre </a:t>
            </a:r>
            <a:r>
              <a:rPr lang="en-US" b="1" dirty="0" err="1">
                <a:ea typeface="+mn-lt"/>
                <a:cs typeface="+mn-lt"/>
              </a:rPr>
              <a:t>engenharias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b="1" dirty="0" err="1">
                <a:ea typeface="+mn-lt"/>
                <a:cs typeface="+mn-lt"/>
              </a:rPr>
              <a:t>visão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integrada</a:t>
            </a:r>
            <a:r>
              <a:rPr lang="en-US" b="1" dirty="0">
                <a:ea typeface="+mn-lt"/>
                <a:cs typeface="+mn-lt"/>
              </a:rPr>
              <a:t> dos dados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b="1" dirty="0" err="1">
                <a:ea typeface="+mn-lt"/>
                <a:cs typeface="+mn-lt"/>
              </a:rPr>
              <a:t>decisões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mais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rápidas</a:t>
            </a:r>
            <a:r>
              <a:rPr lang="en-US" b="1" dirty="0">
                <a:ea typeface="+mn-lt"/>
                <a:cs typeface="+mn-lt"/>
              </a:rPr>
              <a:t> e </a:t>
            </a:r>
            <a:r>
              <a:rPr lang="en-US" b="1" dirty="0" err="1">
                <a:ea typeface="+mn-lt"/>
                <a:cs typeface="+mn-lt"/>
              </a:rPr>
              <a:t>confiáveis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0306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08FD2-B3B8-6202-60EA-ADBE0FC4E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09EAF-8810-3A15-1381-96D64586B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a typeface="+mj-lt"/>
                <a:cs typeface="+mj-lt"/>
              </a:rPr>
              <a:t>IA </a:t>
            </a:r>
            <a:r>
              <a:rPr lang="en-US" dirty="0" err="1">
                <a:ea typeface="+mj-lt"/>
                <a:cs typeface="+mj-lt"/>
              </a:rPr>
              <a:t>Treinada</a:t>
            </a:r>
            <a:r>
              <a:rPr lang="en-US" dirty="0">
                <a:ea typeface="+mj-lt"/>
                <a:cs typeface="+mj-lt"/>
              </a:rPr>
              <a:t> com Dados de Campos </a:t>
            </a:r>
            <a:r>
              <a:rPr lang="en-US" dirty="0" err="1">
                <a:ea typeface="+mj-lt"/>
                <a:cs typeface="+mj-lt"/>
              </a:rPr>
              <a:t>Angolanos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3AF41-17A9-07BD-58F3-D74307F8B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Um dos </a:t>
            </a:r>
            <a:r>
              <a:rPr lang="en-US" dirty="0" err="1">
                <a:ea typeface="+mn-lt"/>
                <a:cs typeface="+mn-lt"/>
              </a:rPr>
              <a:t>pilares</a:t>
            </a:r>
            <a:r>
              <a:rPr lang="en-US" dirty="0">
                <a:ea typeface="+mn-lt"/>
                <a:cs typeface="+mn-lt"/>
              </a:rPr>
              <a:t> do </a:t>
            </a:r>
            <a:r>
              <a:rPr lang="en-US" b="1" dirty="0">
                <a:ea typeface="+mn-lt"/>
                <a:cs typeface="+mn-lt"/>
              </a:rPr>
              <a:t>Projecto Gaia</a:t>
            </a:r>
            <a:r>
              <a:rPr lang="en-US" dirty="0">
                <a:ea typeface="+mn-lt"/>
                <a:cs typeface="+mn-lt"/>
              </a:rPr>
              <a:t> é a </a:t>
            </a:r>
            <a:r>
              <a:rPr lang="en-US" dirty="0" err="1">
                <a:ea typeface="+mn-lt"/>
                <a:cs typeface="+mn-lt"/>
              </a:rPr>
              <a:t>utilização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b="1" dirty="0" err="1">
                <a:ea typeface="+mn-lt"/>
                <a:cs typeface="+mn-lt"/>
              </a:rPr>
              <a:t>Inteligência</a:t>
            </a:r>
            <a:r>
              <a:rPr lang="en-US" b="1" dirty="0">
                <a:ea typeface="+mn-lt"/>
                <a:cs typeface="+mn-lt"/>
              </a:rPr>
              <a:t> Artificial </a:t>
            </a:r>
            <a:r>
              <a:rPr lang="en-US" b="1" dirty="0" err="1">
                <a:ea typeface="+mn-lt"/>
                <a:cs typeface="+mn-lt"/>
              </a:rPr>
              <a:t>treinada</a:t>
            </a:r>
            <a:r>
              <a:rPr lang="en-US" b="1" dirty="0">
                <a:ea typeface="+mn-lt"/>
                <a:cs typeface="+mn-lt"/>
              </a:rPr>
              <a:t> com dados reais dos campos </a:t>
            </a:r>
            <a:r>
              <a:rPr lang="en-US" b="1" dirty="0" err="1">
                <a:ea typeface="+mn-lt"/>
                <a:cs typeface="+mn-lt"/>
              </a:rPr>
              <a:t>petrolíferos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angolanos</a:t>
            </a:r>
            <a:r>
              <a:rPr lang="en-US" dirty="0">
                <a:ea typeface="+mn-lt"/>
                <a:cs typeface="+mn-lt"/>
              </a:rPr>
              <a:t>, para </a:t>
            </a:r>
            <a:r>
              <a:rPr lang="en-US" dirty="0" err="1">
                <a:ea typeface="+mn-lt"/>
                <a:cs typeface="+mn-lt"/>
              </a:rPr>
              <a:t>gerar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análises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previsões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mais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relevantes</a:t>
            </a:r>
            <a:r>
              <a:rPr lang="en-US" dirty="0">
                <a:ea typeface="+mn-lt"/>
                <a:cs typeface="+mn-lt"/>
              </a:rPr>
              <a:t> para o </a:t>
            </a:r>
            <a:r>
              <a:rPr lang="en-US" dirty="0" err="1">
                <a:ea typeface="+mn-lt"/>
                <a:cs typeface="+mn-lt"/>
              </a:rPr>
              <a:t>contexto</a:t>
            </a:r>
            <a:r>
              <a:rPr lang="en-US" dirty="0">
                <a:ea typeface="+mn-lt"/>
                <a:cs typeface="+mn-lt"/>
              </a:rPr>
              <a:t> local.</a:t>
            </a:r>
            <a:endParaRPr lang="en-US" dirty="0"/>
          </a:p>
          <a:p>
            <a:r>
              <a:rPr lang="en-US" b="1" dirty="0" err="1">
                <a:ea typeface="+mn-lt"/>
                <a:cs typeface="+mn-lt"/>
              </a:rPr>
              <a:t>Principais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Aplicações</a:t>
            </a:r>
            <a:r>
              <a:rPr lang="en-US" b="1" dirty="0">
                <a:ea typeface="+mn-lt"/>
                <a:cs typeface="+mn-lt"/>
              </a:rPr>
              <a:t>: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Previsão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produção</a:t>
            </a:r>
            <a:r>
              <a:rPr lang="en-US" dirty="0">
                <a:ea typeface="+mn-lt"/>
                <a:cs typeface="+mn-lt"/>
              </a:rPr>
              <a:t> com base </a:t>
            </a:r>
            <a:r>
              <a:rPr lang="en-US" dirty="0" err="1">
                <a:ea typeface="+mn-lt"/>
                <a:cs typeface="+mn-lt"/>
              </a:rPr>
              <a:t>em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padrões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históricos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locais</a:t>
            </a:r>
            <a:endParaRPr lang="en-US" dirty="0" err="1"/>
          </a:p>
          <a:p>
            <a:r>
              <a:rPr lang="en-US" dirty="0" err="1">
                <a:ea typeface="+mn-lt"/>
                <a:cs typeface="+mn-lt"/>
              </a:rPr>
              <a:t>Diagnóstico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automático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falhas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anomalias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poços</a:t>
            </a:r>
            <a:endParaRPr lang="en-US" dirty="0" err="1"/>
          </a:p>
          <a:p>
            <a:r>
              <a:rPr lang="en-US" dirty="0" err="1">
                <a:ea typeface="+mn-lt"/>
                <a:cs typeface="+mn-lt"/>
              </a:rPr>
              <a:t>Sugestões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estratégias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operacionais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adaptadas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às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condições</a:t>
            </a:r>
            <a:r>
              <a:rPr lang="en-US" dirty="0">
                <a:ea typeface="+mn-lt"/>
                <a:cs typeface="+mn-lt"/>
              </a:rPr>
              <a:t> de Angola</a:t>
            </a:r>
            <a:endParaRPr dirty="0"/>
          </a:p>
          <a:p>
            <a:r>
              <a:rPr lang="en-US" dirty="0" err="1">
                <a:ea typeface="+mn-lt"/>
                <a:cs typeface="+mn-lt"/>
              </a:rPr>
              <a:t>Geração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relatórios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personalizados</a:t>
            </a:r>
            <a:r>
              <a:rPr lang="en-US" dirty="0">
                <a:ea typeface="+mn-lt"/>
                <a:cs typeface="+mn-lt"/>
              </a:rPr>
              <a:t> com </a:t>
            </a:r>
            <a:r>
              <a:rPr lang="en-US" dirty="0" err="1">
                <a:ea typeface="+mn-lt"/>
                <a:cs typeface="+mn-lt"/>
              </a:rPr>
              <a:t>recomendações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técnicas</a:t>
            </a:r>
            <a:endParaRPr lang="en-US" dirty="0" err="1"/>
          </a:p>
          <a:p>
            <a:r>
              <a:rPr lang="en-US" b="1" dirty="0" err="1">
                <a:ea typeface="+mn-lt"/>
                <a:cs typeface="+mn-lt"/>
              </a:rPr>
              <a:t>Vantagens</a:t>
            </a:r>
            <a:r>
              <a:rPr lang="en-US" b="1" dirty="0">
                <a:ea typeface="+mn-lt"/>
                <a:cs typeface="+mn-lt"/>
              </a:rPr>
              <a:t>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✅ </a:t>
            </a:r>
            <a:r>
              <a:rPr lang="en-US" dirty="0" err="1">
                <a:ea typeface="+mn-lt"/>
                <a:cs typeface="+mn-lt"/>
              </a:rPr>
              <a:t>Redução</a:t>
            </a:r>
            <a:r>
              <a:rPr lang="en-US" dirty="0">
                <a:ea typeface="+mn-lt"/>
                <a:cs typeface="+mn-lt"/>
              </a:rPr>
              <a:t> da </a:t>
            </a:r>
            <a:r>
              <a:rPr lang="en-US" dirty="0" err="1">
                <a:ea typeface="+mn-lt"/>
                <a:cs typeface="+mn-lt"/>
              </a:rPr>
              <a:t>dependência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modelos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genéricos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internacionais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✅ Maior </a:t>
            </a:r>
            <a:r>
              <a:rPr lang="en-US" dirty="0" err="1">
                <a:ea typeface="+mn-lt"/>
                <a:cs typeface="+mn-lt"/>
              </a:rPr>
              <a:t>precisão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aplicabilidade</a:t>
            </a:r>
            <a:r>
              <a:rPr lang="en-US" dirty="0">
                <a:ea typeface="+mn-lt"/>
                <a:cs typeface="+mn-lt"/>
              </a:rPr>
              <a:t> dos </a:t>
            </a:r>
            <a:r>
              <a:rPr lang="en-US" dirty="0" err="1">
                <a:ea typeface="+mn-lt"/>
                <a:cs typeface="+mn-lt"/>
              </a:rPr>
              <a:t>resultados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✅ </a:t>
            </a:r>
            <a:r>
              <a:rPr lang="en-US" dirty="0" err="1">
                <a:ea typeface="+mn-lt"/>
                <a:cs typeface="+mn-lt"/>
              </a:rPr>
              <a:t>Valorização</a:t>
            </a:r>
            <a:r>
              <a:rPr lang="en-US" dirty="0">
                <a:ea typeface="+mn-lt"/>
                <a:cs typeface="+mn-lt"/>
              </a:rPr>
              <a:t> dos dados </a:t>
            </a:r>
            <a:r>
              <a:rPr lang="en-US" dirty="0" err="1">
                <a:ea typeface="+mn-lt"/>
                <a:cs typeface="+mn-lt"/>
              </a:rPr>
              <a:t>nacionais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como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ativo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estratégico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✅ </a:t>
            </a:r>
            <a:r>
              <a:rPr lang="en-US" dirty="0" err="1">
                <a:ea typeface="+mn-lt"/>
                <a:cs typeface="+mn-lt"/>
              </a:rPr>
              <a:t>Apoio</a:t>
            </a:r>
            <a:r>
              <a:rPr lang="en-US" dirty="0">
                <a:ea typeface="+mn-lt"/>
                <a:cs typeface="+mn-lt"/>
              </a:rPr>
              <a:t> à </a:t>
            </a:r>
            <a:r>
              <a:rPr lang="en-US" dirty="0" err="1">
                <a:ea typeface="+mn-lt"/>
                <a:cs typeface="+mn-lt"/>
              </a:rPr>
              <a:t>decisão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técnica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engenheiros</a:t>
            </a:r>
            <a:r>
              <a:rPr lang="en-US" dirty="0">
                <a:ea typeface="+mn-lt"/>
                <a:cs typeface="+mn-lt"/>
              </a:rPr>
              <a:t> no campo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O </a:t>
            </a:r>
            <a:r>
              <a:rPr lang="en-US" dirty="0" err="1">
                <a:ea typeface="+mn-lt"/>
                <a:cs typeface="+mn-lt"/>
              </a:rPr>
              <a:t>uso</a:t>
            </a:r>
            <a:r>
              <a:rPr lang="en-US" dirty="0">
                <a:ea typeface="+mn-lt"/>
                <a:cs typeface="+mn-lt"/>
              </a:rPr>
              <a:t> de IA </a:t>
            </a:r>
            <a:r>
              <a:rPr lang="en-US" dirty="0" err="1">
                <a:ea typeface="+mn-lt"/>
                <a:cs typeface="+mn-lt"/>
              </a:rPr>
              <a:t>localmente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treinada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garante</a:t>
            </a:r>
            <a:r>
              <a:rPr lang="en-US" dirty="0">
                <a:ea typeface="+mn-lt"/>
                <a:cs typeface="+mn-lt"/>
              </a:rPr>
              <a:t> que o </a:t>
            </a:r>
            <a:r>
              <a:rPr lang="en-US" dirty="0" err="1">
                <a:ea typeface="+mn-lt"/>
                <a:cs typeface="+mn-lt"/>
              </a:rPr>
              <a:t>sistema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fale</a:t>
            </a:r>
            <a:r>
              <a:rPr lang="en-US" dirty="0">
                <a:ea typeface="+mn-lt"/>
                <a:cs typeface="+mn-lt"/>
              </a:rPr>
              <a:t> a "</a:t>
            </a:r>
            <a:r>
              <a:rPr lang="en-US" dirty="0" err="1">
                <a:ea typeface="+mn-lt"/>
                <a:cs typeface="+mn-lt"/>
              </a:rPr>
              <a:t>linguagem</a:t>
            </a:r>
            <a:r>
              <a:rPr lang="en-US" dirty="0">
                <a:ea typeface="+mn-lt"/>
                <a:cs typeface="+mn-lt"/>
              </a:rPr>
              <a:t> dos campos </a:t>
            </a:r>
            <a:r>
              <a:rPr lang="en-US" dirty="0" err="1">
                <a:ea typeface="+mn-lt"/>
                <a:cs typeface="+mn-lt"/>
              </a:rPr>
              <a:t>angolanos</a:t>
            </a:r>
            <a:r>
              <a:rPr lang="en-US" dirty="0">
                <a:ea typeface="+mn-lt"/>
                <a:cs typeface="+mn-lt"/>
              </a:rPr>
              <a:t>", </a:t>
            </a:r>
            <a:r>
              <a:rPr lang="en-US" dirty="0" err="1">
                <a:ea typeface="+mn-lt"/>
                <a:cs typeface="+mn-lt"/>
              </a:rPr>
              <a:t>oferecendo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soluções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mais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eficazes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realistas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68428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Diferenciais Chave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dirty="0"/>
              <a:t>• Foco </a:t>
            </a:r>
            <a:r>
              <a:rPr dirty="0" err="1"/>
              <a:t>nas</a:t>
            </a:r>
            <a:r>
              <a:rPr dirty="0"/>
              <a:t> </a:t>
            </a:r>
            <a:r>
              <a:rPr dirty="0" err="1"/>
              <a:t>necessidades</a:t>
            </a:r>
            <a:r>
              <a:rPr dirty="0"/>
              <a:t> de </a:t>
            </a:r>
            <a:r>
              <a:rPr lang="en-US" dirty="0" err="1"/>
              <a:t>empresas</a:t>
            </a:r>
            <a:r>
              <a:rPr lang="en-US" dirty="0"/>
              <a:t> </a:t>
            </a:r>
            <a:r>
              <a:rPr lang="en-US" dirty="0" err="1"/>
              <a:t>nacionais</a:t>
            </a:r>
            <a:r>
              <a:rPr lang="en-US" dirty="0"/>
              <a:t>: </a:t>
            </a:r>
            <a:r>
              <a:rPr dirty="0"/>
              <a:t>Sonangol, Partex, TotalEnergies</a:t>
            </a:r>
          </a:p>
          <a:p>
            <a:r>
              <a:rPr dirty="0"/>
              <a:t>• Interface </a:t>
            </a:r>
            <a:r>
              <a:rPr dirty="0" err="1"/>
              <a:t>adaptada</a:t>
            </a:r>
            <a:r>
              <a:rPr dirty="0"/>
              <a:t> à </a:t>
            </a:r>
            <a:r>
              <a:rPr dirty="0" err="1"/>
              <a:t>infraestrutura</a:t>
            </a:r>
            <a:r>
              <a:rPr dirty="0"/>
              <a:t> local</a:t>
            </a:r>
            <a:endParaRPr dirty="0">
              <a:ea typeface="Calibri"/>
              <a:cs typeface="Calibri"/>
            </a:endParaRPr>
          </a:p>
          <a:p>
            <a:r>
              <a:rPr dirty="0"/>
              <a:t>• </a:t>
            </a:r>
            <a:r>
              <a:rPr dirty="0" err="1"/>
              <a:t>Simulação</a:t>
            </a:r>
            <a:r>
              <a:rPr dirty="0"/>
              <a:t>, </a:t>
            </a:r>
            <a:r>
              <a:rPr dirty="0" err="1"/>
              <a:t>análise</a:t>
            </a:r>
            <a:r>
              <a:rPr dirty="0"/>
              <a:t> e </a:t>
            </a:r>
            <a:r>
              <a:rPr dirty="0" err="1"/>
              <a:t>diagnóstico</a:t>
            </a:r>
            <a:r>
              <a:rPr dirty="0"/>
              <a:t> </a:t>
            </a:r>
            <a:r>
              <a:rPr dirty="0" err="1"/>
              <a:t>automatizado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IA</a:t>
            </a:r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C2D6D-BA38-8013-6E39-AFA3B9594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B6085-992B-50BA-9929-F2C477BC0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dirty="0"/>
              <a:t>Foco </a:t>
            </a:r>
            <a:r>
              <a:rPr lang="en-US" sz="3200" dirty="0" err="1"/>
              <a:t>nas</a:t>
            </a:r>
            <a:r>
              <a:rPr lang="en-US" sz="3200" dirty="0"/>
              <a:t> </a:t>
            </a:r>
            <a:r>
              <a:rPr lang="en-US" sz="3200" dirty="0" err="1"/>
              <a:t>necessidades</a:t>
            </a:r>
            <a:r>
              <a:rPr lang="en-US" sz="3200" dirty="0"/>
              <a:t> de </a:t>
            </a:r>
            <a:r>
              <a:rPr lang="en-US" sz="3200" dirty="0" err="1"/>
              <a:t>empresas</a:t>
            </a:r>
            <a:r>
              <a:rPr lang="en-US" sz="3200" dirty="0"/>
              <a:t> </a:t>
            </a:r>
            <a:r>
              <a:rPr lang="en-US" sz="3200" dirty="0" err="1"/>
              <a:t>nacionais</a:t>
            </a:r>
            <a:endParaRPr lang="en-US" sz="3200" dirty="0" err="1">
              <a:ea typeface="Calibri"/>
              <a:cs typeface="Calibri"/>
            </a:endParaRPr>
          </a:p>
          <a:p>
            <a:endParaRPr dirty="0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2432E-CBF3-0C89-5989-378DDC523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55000" lnSpcReduction="20000"/>
          </a:bodyPr>
          <a:lstStyle/>
          <a:p>
            <a:r>
              <a:rPr lang="en-US" dirty="0" err="1"/>
              <a:t>Simulação</a:t>
            </a:r>
            <a:r>
              <a:rPr lang="en-US" dirty="0"/>
              <a:t>, </a:t>
            </a:r>
            <a:r>
              <a:rPr lang="en-US" dirty="0" err="1"/>
              <a:t>Análise</a:t>
            </a:r>
            <a:r>
              <a:rPr lang="en-US" dirty="0"/>
              <a:t> e </a:t>
            </a:r>
            <a:r>
              <a:rPr lang="en-US" dirty="0" err="1"/>
              <a:t>Diagnóstico</a:t>
            </a:r>
            <a:r>
              <a:rPr lang="en-US" dirty="0"/>
              <a:t> </a:t>
            </a:r>
            <a:r>
              <a:rPr lang="en-US" dirty="0" err="1"/>
              <a:t>Automatizado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IA</a:t>
            </a:r>
          </a:p>
          <a:p>
            <a:r>
              <a:rPr lang="en-US" dirty="0">
                <a:ea typeface="+mn-lt"/>
                <a:cs typeface="+mn-lt"/>
              </a:rPr>
              <a:t>O </a:t>
            </a:r>
            <a:r>
              <a:rPr lang="en-US" b="1" dirty="0">
                <a:ea typeface="+mn-lt"/>
                <a:cs typeface="+mn-lt"/>
              </a:rPr>
              <a:t>Projecto Gaia</a:t>
            </a:r>
            <a:r>
              <a:rPr lang="en-US" dirty="0">
                <a:ea typeface="+mn-lt"/>
                <a:cs typeface="+mn-lt"/>
              </a:rPr>
              <a:t> integra </a:t>
            </a:r>
            <a:r>
              <a:rPr lang="en-US" dirty="0" err="1">
                <a:ea typeface="+mn-lt"/>
                <a:cs typeface="+mn-lt"/>
              </a:rPr>
              <a:t>tecnologias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avançadas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inteligência</a:t>
            </a:r>
            <a:r>
              <a:rPr lang="en-US" dirty="0">
                <a:ea typeface="+mn-lt"/>
                <a:cs typeface="+mn-lt"/>
              </a:rPr>
              <a:t> artificial para </a:t>
            </a:r>
            <a:r>
              <a:rPr lang="en-US" dirty="0" err="1">
                <a:ea typeface="+mn-lt"/>
                <a:cs typeface="+mn-lt"/>
              </a:rPr>
              <a:t>transformar</a:t>
            </a:r>
            <a:r>
              <a:rPr lang="en-US" dirty="0">
                <a:ea typeface="+mn-lt"/>
                <a:cs typeface="+mn-lt"/>
              </a:rPr>
              <a:t> a forma </a:t>
            </a:r>
            <a:r>
              <a:rPr lang="en-US" dirty="0" err="1">
                <a:ea typeface="+mn-lt"/>
                <a:cs typeface="+mn-lt"/>
              </a:rPr>
              <a:t>como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engenheiros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petróleo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tomam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decisões</a:t>
            </a:r>
            <a:r>
              <a:rPr lang="en-US" dirty="0">
                <a:ea typeface="+mn-lt"/>
                <a:cs typeface="+mn-lt"/>
              </a:rPr>
              <a:t>, com </a:t>
            </a:r>
            <a:r>
              <a:rPr lang="en-US" dirty="0" err="1">
                <a:ea typeface="+mn-lt"/>
                <a:cs typeface="+mn-lt"/>
              </a:rPr>
              <a:t>funcionalidades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como</a:t>
            </a:r>
            <a:r>
              <a:rPr lang="en-US" dirty="0">
                <a:ea typeface="+mn-lt"/>
                <a:cs typeface="+mn-lt"/>
              </a:rPr>
              <a:t>:</a:t>
            </a:r>
          </a:p>
          <a:p>
            <a:r>
              <a:rPr lang="en-US" b="1" dirty="0" err="1">
                <a:ea typeface="+mn-lt"/>
                <a:cs typeface="+mn-lt"/>
              </a:rPr>
              <a:t>Simulações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precisas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baseadas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modelos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locais</a:t>
            </a:r>
            <a:r>
              <a:rPr lang="en-US" dirty="0">
                <a:ea typeface="+mn-lt"/>
                <a:cs typeface="+mn-lt"/>
              </a:rPr>
              <a:t> para </a:t>
            </a:r>
            <a:r>
              <a:rPr lang="en-US" dirty="0" err="1">
                <a:ea typeface="+mn-lt"/>
                <a:cs typeface="+mn-lt"/>
              </a:rPr>
              <a:t>prever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comportamento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poços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reservatórios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produção</a:t>
            </a:r>
            <a:endParaRPr lang="en-US" dirty="0" err="1"/>
          </a:p>
          <a:p>
            <a:r>
              <a:rPr lang="en-US" b="1" dirty="0" err="1">
                <a:ea typeface="+mn-lt"/>
                <a:cs typeface="+mn-lt"/>
              </a:rPr>
              <a:t>Análise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automática</a:t>
            </a:r>
            <a:r>
              <a:rPr lang="en-US" b="1" dirty="0">
                <a:ea typeface="+mn-lt"/>
                <a:cs typeface="+mn-lt"/>
              </a:rPr>
              <a:t> de dados </a:t>
            </a:r>
            <a:r>
              <a:rPr lang="en-US" b="1" dirty="0" err="1">
                <a:ea typeface="+mn-lt"/>
                <a:cs typeface="+mn-lt"/>
              </a:rPr>
              <a:t>operacionais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identificando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padrões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anomalias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em</a:t>
            </a:r>
            <a:r>
              <a:rPr lang="en-US" dirty="0">
                <a:ea typeface="+mn-lt"/>
                <a:cs typeface="+mn-lt"/>
              </a:rPr>
              <a:t> tempo real</a:t>
            </a:r>
            <a:endParaRPr dirty="0"/>
          </a:p>
          <a:p>
            <a:r>
              <a:rPr lang="en-US" b="1" dirty="0" err="1">
                <a:ea typeface="+mn-lt"/>
                <a:cs typeface="+mn-lt"/>
              </a:rPr>
              <a:t>Diagnóstico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inteligente</a:t>
            </a:r>
            <a:r>
              <a:rPr lang="en-US" dirty="0">
                <a:ea typeface="+mn-lt"/>
                <a:cs typeface="+mn-lt"/>
              </a:rPr>
              <a:t> que </a:t>
            </a:r>
            <a:r>
              <a:rPr lang="en-US" dirty="0" err="1">
                <a:ea typeface="+mn-lt"/>
                <a:cs typeface="+mn-lt"/>
              </a:rPr>
              <a:t>sugere</a:t>
            </a:r>
            <a:r>
              <a:rPr lang="en-US" dirty="0">
                <a:ea typeface="+mn-lt"/>
                <a:cs typeface="+mn-lt"/>
              </a:rPr>
              <a:t> as </a:t>
            </a:r>
            <a:r>
              <a:rPr lang="en-US" dirty="0" err="1">
                <a:ea typeface="+mn-lt"/>
                <a:cs typeface="+mn-lt"/>
              </a:rPr>
              <a:t>melhores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soluções</a:t>
            </a:r>
            <a:r>
              <a:rPr lang="en-US" dirty="0">
                <a:ea typeface="+mn-lt"/>
                <a:cs typeface="+mn-lt"/>
              </a:rPr>
              <a:t> para </a:t>
            </a:r>
            <a:r>
              <a:rPr lang="en-US" dirty="0" err="1">
                <a:ea typeface="+mn-lt"/>
                <a:cs typeface="+mn-lt"/>
              </a:rPr>
              <a:t>eventos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críticos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como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quedas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pressão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instabilidades</a:t>
            </a:r>
            <a:r>
              <a:rPr lang="en-US" dirty="0">
                <a:ea typeface="+mn-lt"/>
                <a:cs typeface="+mn-lt"/>
              </a:rPr>
              <a:t> no </a:t>
            </a:r>
            <a:r>
              <a:rPr lang="en-US" dirty="0" err="1">
                <a:ea typeface="+mn-lt"/>
                <a:cs typeface="+mn-lt"/>
              </a:rPr>
              <a:t>poço</a:t>
            </a:r>
            <a:endParaRPr dirty="0" err="1"/>
          </a:p>
          <a:p>
            <a:r>
              <a:rPr lang="en-US" b="1" dirty="0" err="1">
                <a:ea typeface="+mn-lt"/>
                <a:cs typeface="+mn-lt"/>
              </a:rPr>
              <a:t>Aprimoramento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contínuo</a:t>
            </a:r>
            <a:r>
              <a:rPr lang="en-US" dirty="0">
                <a:ea typeface="+mn-lt"/>
                <a:cs typeface="+mn-lt"/>
              </a:rPr>
              <a:t> com </a:t>
            </a:r>
            <a:r>
              <a:rPr lang="en-US" dirty="0" err="1">
                <a:ea typeface="+mn-lt"/>
                <a:cs typeface="+mn-lt"/>
              </a:rPr>
              <a:t>aprendizado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máquina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adaptando</a:t>
            </a:r>
            <a:r>
              <a:rPr lang="en-US" dirty="0">
                <a:ea typeface="+mn-lt"/>
                <a:cs typeface="+mn-lt"/>
              </a:rPr>
              <a:t>-</a:t>
            </a:r>
            <a:r>
              <a:rPr lang="en-US" dirty="0" err="1">
                <a:ea typeface="+mn-lt"/>
                <a:cs typeface="+mn-lt"/>
              </a:rPr>
              <a:t>se 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novas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informações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condições</a:t>
            </a:r>
            <a:r>
              <a:rPr lang="en-US" dirty="0">
                <a:ea typeface="+mn-lt"/>
                <a:cs typeface="+mn-lt"/>
              </a:rPr>
              <a:t> do campo</a:t>
            </a:r>
            <a:endParaRPr lang="en-US" dirty="0"/>
          </a:p>
          <a:p>
            <a:r>
              <a:rPr lang="en-US" b="1" dirty="0" err="1">
                <a:ea typeface="+mn-lt"/>
                <a:cs typeface="+mn-lt"/>
              </a:rPr>
              <a:t>Benefícios</a:t>
            </a:r>
            <a:r>
              <a:rPr lang="en-US" b="1" dirty="0">
                <a:ea typeface="+mn-lt"/>
                <a:cs typeface="+mn-lt"/>
              </a:rPr>
              <a:t>: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✅ </a:t>
            </a:r>
            <a:r>
              <a:rPr lang="en-US" b="1" dirty="0" err="1">
                <a:ea typeface="+mn-lt"/>
                <a:cs typeface="+mn-lt"/>
              </a:rPr>
              <a:t>Redução</a:t>
            </a:r>
            <a:r>
              <a:rPr lang="en-US" b="1" dirty="0">
                <a:ea typeface="+mn-lt"/>
                <a:cs typeface="+mn-lt"/>
              </a:rPr>
              <a:t> de </a:t>
            </a:r>
            <a:r>
              <a:rPr lang="en-US" b="1" dirty="0" err="1">
                <a:ea typeface="+mn-lt"/>
                <a:cs typeface="+mn-lt"/>
              </a:rPr>
              <a:t>erros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humanos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✅ </a:t>
            </a:r>
            <a:r>
              <a:rPr lang="en-US" b="1" dirty="0" err="1">
                <a:ea typeface="+mn-lt"/>
                <a:cs typeface="+mn-lt"/>
              </a:rPr>
              <a:t>Otimização</a:t>
            </a:r>
            <a:r>
              <a:rPr lang="en-US" b="1" dirty="0">
                <a:ea typeface="+mn-lt"/>
                <a:cs typeface="+mn-lt"/>
              </a:rPr>
              <a:t> da </a:t>
            </a:r>
            <a:r>
              <a:rPr lang="en-US" b="1" dirty="0" err="1">
                <a:ea typeface="+mn-lt"/>
                <a:cs typeface="+mn-lt"/>
              </a:rPr>
              <a:t>produção</a:t>
            </a:r>
            <a:r>
              <a:rPr lang="en-US" b="1" dirty="0">
                <a:ea typeface="+mn-lt"/>
                <a:cs typeface="+mn-lt"/>
              </a:rPr>
              <a:t> e </a:t>
            </a:r>
            <a:r>
              <a:rPr lang="en-US" b="1" dirty="0" err="1">
                <a:ea typeface="+mn-lt"/>
                <a:cs typeface="+mn-lt"/>
              </a:rPr>
              <a:t>segurança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✅ Economia de tempo e </a:t>
            </a:r>
            <a:r>
              <a:rPr lang="en-US" b="1" dirty="0" err="1">
                <a:ea typeface="+mn-lt"/>
                <a:cs typeface="+mn-lt"/>
              </a:rPr>
              <a:t>recursos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na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tomada</a:t>
            </a:r>
            <a:r>
              <a:rPr lang="en-US" b="1" dirty="0">
                <a:ea typeface="+mn-lt"/>
                <a:cs typeface="+mn-lt"/>
              </a:rPr>
              <a:t> de </a:t>
            </a:r>
            <a:r>
              <a:rPr lang="en-US" b="1" dirty="0" err="1">
                <a:ea typeface="+mn-lt"/>
                <a:cs typeface="+mn-lt"/>
              </a:rPr>
              <a:t>decisões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✅ </a:t>
            </a:r>
            <a:r>
              <a:rPr lang="en-US" b="1" dirty="0" err="1">
                <a:ea typeface="+mn-lt"/>
                <a:cs typeface="+mn-lt"/>
              </a:rPr>
              <a:t>Apoio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estratégico</a:t>
            </a:r>
            <a:r>
              <a:rPr lang="en-US" b="1" dirty="0">
                <a:ea typeface="+mn-lt"/>
                <a:cs typeface="+mn-lt"/>
              </a:rPr>
              <a:t> e </a:t>
            </a:r>
            <a:r>
              <a:rPr lang="en-US" b="1" dirty="0" err="1">
                <a:ea typeface="+mn-lt"/>
                <a:cs typeface="+mn-lt"/>
              </a:rPr>
              <a:t>operacional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integrado</a:t>
            </a:r>
            <a:endParaRPr lang="en-US" dirty="0" err="1"/>
          </a:p>
          <a:p>
            <a:endParaRPr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2562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7E432-73CB-110B-7E95-8FAB09CF9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pPr algn="l"/>
            <a:r>
              <a:rPr lang="en-US" dirty="0">
                <a:ea typeface="+mj-lt"/>
                <a:cs typeface="+mj-lt"/>
              </a:rPr>
              <a:t>Interface </a:t>
            </a:r>
            <a:r>
              <a:rPr lang="en-US" dirty="0" err="1">
                <a:ea typeface="+mj-lt"/>
                <a:cs typeface="+mj-lt"/>
              </a:rPr>
              <a:t>adaptada</a:t>
            </a:r>
            <a:r>
              <a:rPr lang="en-US" dirty="0">
                <a:ea typeface="+mj-lt"/>
                <a:cs typeface="+mj-lt"/>
              </a:rPr>
              <a:t> à </a:t>
            </a:r>
            <a:r>
              <a:rPr lang="en-US" dirty="0" err="1">
                <a:ea typeface="+mj-lt"/>
                <a:cs typeface="+mj-lt"/>
              </a:rPr>
              <a:t>infraestrutura</a:t>
            </a:r>
            <a:r>
              <a:rPr lang="en-US" dirty="0">
                <a:ea typeface="+mj-lt"/>
                <a:cs typeface="+mj-lt"/>
              </a:rPr>
              <a:t> local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07089-2B1A-D231-65FE-4707E4C52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 dirty="0"/>
              <a:t>Interface </a:t>
            </a:r>
            <a:r>
              <a:rPr lang="en-US" dirty="0" err="1"/>
              <a:t>Adaptada</a:t>
            </a:r>
            <a:r>
              <a:rPr lang="en-US" dirty="0"/>
              <a:t> à </a:t>
            </a:r>
            <a:r>
              <a:rPr lang="en-US" dirty="0" err="1"/>
              <a:t>Infraestrutura</a:t>
            </a:r>
            <a:r>
              <a:rPr lang="en-US" dirty="0"/>
              <a:t> Local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+mn-lt"/>
                <a:cs typeface="+mn-lt"/>
              </a:rPr>
              <a:t>O </a:t>
            </a:r>
            <a:r>
              <a:rPr lang="en-US" b="1" dirty="0">
                <a:ea typeface="+mn-lt"/>
                <a:cs typeface="+mn-lt"/>
              </a:rPr>
              <a:t>Projecto Gaia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foi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desenvolvido</a:t>
            </a:r>
            <a:r>
              <a:rPr lang="en-US" dirty="0">
                <a:ea typeface="+mn-lt"/>
                <a:cs typeface="+mn-lt"/>
              </a:rPr>
              <a:t> para </a:t>
            </a:r>
            <a:r>
              <a:rPr lang="en-US" dirty="0" err="1">
                <a:ea typeface="+mn-lt"/>
                <a:cs typeface="+mn-lt"/>
              </a:rPr>
              <a:t>atender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às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condições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específicas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infraestrutura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tecnológica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em</a:t>
            </a:r>
            <a:r>
              <a:rPr lang="en-US" dirty="0">
                <a:ea typeface="+mn-lt"/>
                <a:cs typeface="+mn-lt"/>
              </a:rPr>
              <a:t> Angola, </a:t>
            </a:r>
            <a:r>
              <a:rPr lang="en-US" dirty="0" err="1">
                <a:ea typeface="+mn-lt"/>
                <a:cs typeface="+mn-lt"/>
              </a:rPr>
              <a:t>garantindo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acessibilidade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eficiência</a:t>
            </a:r>
            <a:r>
              <a:rPr lang="en-US" dirty="0">
                <a:ea typeface="+mn-lt"/>
                <a:cs typeface="+mn-lt"/>
              </a:rPr>
              <a:t>:</a:t>
            </a:r>
          </a:p>
          <a:p>
            <a:r>
              <a:rPr lang="en-US" b="1" dirty="0" err="1">
                <a:ea typeface="+mn-lt"/>
                <a:cs typeface="+mn-lt"/>
              </a:rPr>
              <a:t>Funcionamento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em</a:t>
            </a:r>
            <a:r>
              <a:rPr lang="en-US" b="1" dirty="0">
                <a:ea typeface="+mn-lt"/>
                <a:cs typeface="+mn-lt"/>
              </a:rPr>
              <a:t> ambientes de </a:t>
            </a:r>
            <a:r>
              <a:rPr lang="en-US" b="1" dirty="0" err="1">
                <a:ea typeface="+mn-lt"/>
                <a:cs typeface="+mn-lt"/>
              </a:rPr>
              <a:t>baixa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conectividade</a:t>
            </a:r>
            <a:r>
              <a:rPr lang="en-US" dirty="0">
                <a:ea typeface="+mn-lt"/>
                <a:cs typeface="+mn-lt"/>
              </a:rPr>
              <a:t>, com </a:t>
            </a:r>
            <a:r>
              <a:rPr lang="en-US" dirty="0" err="1">
                <a:ea typeface="+mn-lt"/>
                <a:cs typeface="+mn-lt"/>
              </a:rPr>
              <a:t>recursos</a:t>
            </a:r>
            <a:r>
              <a:rPr lang="en-US" dirty="0">
                <a:ea typeface="+mn-lt"/>
                <a:cs typeface="+mn-lt"/>
              </a:rPr>
              <a:t> offline e </a:t>
            </a:r>
            <a:r>
              <a:rPr lang="en-US" dirty="0" err="1">
                <a:ea typeface="+mn-lt"/>
                <a:cs typeface="+mn-lt"/>
              </a:rPr>
              <a:t>sincronização</a:t>
            </a:r>
            <a:r>
              <a:rPr lang="en-US" dirty="0">
                <a:ea typeface="+mn-lt"/>
                <a:cs typeface="+mn-lt"/>
              </a:rPr>
              <a:t> posterior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Baixo </a:t>
            </a:r>
            <a:r>
              <a:rPr lang="en-US" b="1" dirty="0" err="1">
                <a:ea typeface="+mn-lt"/>
                <a:cs typeface="+mn-lt"/>
              </a:rPr>
              <a:t>consumo</a:t>
            </a:r>
            <a:r>
              <a:rPr lang="en-US" b="1" dirty="0">
                <a:ea typeface="+mn-lt"/>
                <a:cs typeface="+mn-lt"/>
              </a:rPr>
              <a:t> de </a:t>
            </a:r>
            <a:r>
              <a:rPr lang="en-US" b="1" dirty="0" err="1">
                <a:ea typeface="+mn-lt"/>
                <a:cs typeface="+mn-lt"/>
              </a:rPr>
              <a:t>recursos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computacionais</a:t>
            </a:r>
            <a:r>
              <a:rPr lang="en-US" dirty="0">
                <a:ea typeface="+mn-lt"/>
                <a:cs typeface="+mn-lt"/>
              </a:rPr>
              <a:t>, ideal para </a:t>
            </a:r>
            <a:r>
              <a:rPr lang="en-US" dirty="0" err="1">
                <a:ea typeface="+mn-lt"/>
                <a:cs typeface="+mn-lt"/>
              </a:rPr>
              <a:t>computadores</a:t>
            </a:r>
            <a:r>
              <a:rPr lang="en-US" dirty="0">
                <a:ea typeface="+mn-lt"/>
                <a:cs typeface="+mn-lt"/>
              </a:rPr>
              <a:t> com hardware </a:t>
            </a:r>
            <a:r>
              <a:rPr lang="en-US" dirty="0" err="1">
                <a:ea typeface="+mn-lt"/>
                <a:cs typeface="+mn-lt"/>
              </a:rPr>
              <a:t>limitado</a:t>
            </a:r>
            <a:endParaRPr lang="en-US" dirty="0" err="1"/>
          </a:p>
          <a:p>
            <a:r>
              <a:rPr lang="en-US" b="1" dirty="0" err="1">
                <a:ea typeface="+mn-lt"/>
                <a:cs typeface="+mn-lt"/>
              </a:rPr>
              <a:t>Compatibilidade</a:t>
            </a:r>
            <a:r>
              <a:rPr lang="en-US" b="1" dirty="0">
                <a:ea typeface="+mn-lt"/>
                <a:cs typeface="+mn-lt"/>
              </a:rPr>
              <a:t> com </a:t>
            </a:r>
            <a:r>
              <a:rPr lang="en-US" b="1" dirty="0" err="1">
                <a:ea typeface="+mn-lt"/>
                <a:cs typeface="+mn-lt"/>
              </a:rPr>
              <a:t>formatos</a:t>
            </a:r>
            <a:r>
              <a:rPr lang="en-US" b="1" dirty="0">
                <a:ea typeface="+mn-lt"/>
                <a:cs typeface="+mn-lt"/>
              </a:rPr>
              <a:t> e </a:t>
            </a:r>
            <a:r>
              <a:rPr lang="en-US" b="1" dirty="0" err="1">
                <a:ea typeface="+mn-lt"/>
                <a:cs typeface="+mn-lt"/>
              </a:rPr>
              <a:t>sistemas</a:t>
            </a:r>
            <a:r>
              <a:rPr lang="en-US" b="1" dirty="0">
                <a:ea typeface="+mn-lt"/>
                <a:cs typeface="+mn-lt"/>
              </a:rPr>
              <a:t> de dados </a:t>
            </a:r>
            <a:r>
              <a:rPr lang="en-US" b="1" dirty="0" err="1">
                <a:ea typeface="+mn-lt"/>
                <a:cs typeface="+mn-lt"/>
              </a:rPr>
              <a:t>locais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facilitando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integração</a:t>
            </a:r>
            <a:r>
              <a:rPr lang="en-US" dirty="0">
                <a:ea typeface="+mn-lt"/>
                <a:cs typeface="+mn-lt"/>
              </a:rPr>
              <a:t> com </a:t>
            </a:r>
            <a:r>
              <a:rPr lang="en-US" dirty="0" err="1">
                <a:ea typeface="+mn-lt"/>
                <a:cs typeface="+mn-lt"/>
              </a:rPr>
              <a:t>processos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existentes</a:t>
            </a:r>
            <a:endParaRPr lang="en-US" dirty="0" err="1"/>
          </a:p>
          <a:p>
            <a:r>
              <a:rPr lang="en-US" b="1" dirty="0" err="1">
                <a:ea typeface="+mn-lt"/>
                <a:cs typeface="+mn-lt"/>
              </a:rPr>
              <a:t>Suporte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técnico</a:t>
            </a:r>
            <a:r>
              <a:rPr lang="en-US" b="1" dirty="0">
                <a:ea typeface="+mn-lt"/>
                <a:cs typeface="+mn-lt"/>
              </a:rPr>
              <a:t> local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promovendo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autonomia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agilidade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manutenção</a:t>
            </a:r>
            <a:endParaRPr lang="en-US" dirty="0" err="1"/>
          </a:p>
          <a:p>
            <a:r>
              <a:rPr lang="en-US" dirty="0">
                <a:ea typeface="+mn-lt"/>
                <a:cs typeface="+mn-lt"/>
              </a:rPr>
              <a:t>Essa </a:t>
            </a:r>
            <a:r>
              <a:rPr lang="en-US" dirty="0" err="1">
                <a:ea typeface="+mn-lt"/>
                <a:cs typeface="+mn-lt"/>
              </a:rPr>
              <a:t>adaptação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permite</a:t>
            </a:r>
            <a:r>
              <a:rPr lang="en-US" dirty="0">
                <a:ea typeface="+mn-lt"/>
                <a:cs typeface="+mn-lt"/>
              </a:rPr>
              <a:t> que o Gaia </a:t>
            </a:r>
            <a:r>
              <a:rPr lang="en-US" dirty="0" err="1">
                <a:ea typeface="+mn-lt"/>
                <a:cs typeface="+mn-lt"/>
              </a:rPr>
              <a:t>seja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uma</a:t>
            </a:r>
            <a:r>
              <a:rPr lang="en-US" dirty="0">
                <a:ea typeface="+mn-lt"/>
                <a:cs typeface="+mn-lt"/>
              </a:rPr>
              <a:t> ferramenta </a:t>
            </a:r>
            <a:r>
              <a:rPr lang="en-US" dirty="0" err="1">
                <a:ea typeface="+mn-lt"/>
                <a:cs typeface="+mn-lt"/>
              </a:rPr>
              <a:t>prática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confiável</a:t>
            </a:r>
            <a:r>
              <a:rPr lang="en-US" dirty="0">
                <a:ea typeface="+mn-lt"/>
                <a:cs typeface="+mn-lt"/>
              </a:rPr>
              <a:t> para </a:t>
            </a:r>
            <a:r>
              <a:rPr lang="en-US" dirty="0" err="1">
                <a:ea typeface="+mn-lt"/>
                <a:cs typeface="+mn-lt"/>
              </a:rPr>
              <a:t>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profissionais</a:t>
            </a:r>
            <a:r>
              <a:rPr lang="en-US" dirty="0">
                <a:ea typeface="+mn-lt"/>
                <a:cs typeface="+mn-lt"/>
              </a:rPr>
              <a:t> no campo, </a:t>
            </a:r>
            <a:r>
              <a:rPr lang="en-US" dirty="0" err="1">
                <a:ea typeface="+mn-lt"/>
                <a:cs typeface="+mn-lt"/>
              </a:rPr>
              <a:t>mesmo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condições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desafiadoras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48586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910BE-1752-EA34-88AC-67D7C7D0B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dirty="0" err="1">
                <a:ea typeface="Calibri"/>
                <a:cs typeface="Calibri"/>
              </a:rPr>
              <a:t>Simulação</a:t>
            </a:r>
            <a:r>
              <a:rPr lang="en-US" sz="3200" dirty="0">
                <a:ea typeface="Calibri"/>
                <a:cs typeface="Calibri"/>
              </a:rPr>
              <a:t>, </a:t>
            </a:r>
            <a:r>
              <a:rPr lang="en-US" sz="3200" dirty="0" err="1">
                <a:ea typeface="Calibri"/>
                <a:cs typeface="Calibri"/>
              </a:rPr>
              <a:t>análise</a:t>
            </a:r>
            <a:r>
              <a:rPr lang="en-US" sz="3200" dirty="0">
                <a:ea typeface="Calibri"/>
                <a:cs typeface="Calibri"/>
              </a:rPr>
              <a:t> e </a:t>
            </a:r>
            <a:r>
              <a:rPr lang="en-US" sz="3200" dirty="0" err="1">
                <a:ea typeface="Calibri"/>
                <a:cs typeface="Calibri"/>
              </a:rPr>
              <a:t>diagnóstico</a:t>
            </a:r>
            <a:r>
              <a:rPr lang="en-US" sz="3200" dirty="0">
                <a:ea typeface="Calibri"/>
                <a:cs typeface="Calibri"/>
              </a:rPr>
              <a:t> </a:t>
            </a:r>
            <a:r>
              <a:rPr lang="en-US" sz="3200" dirty="0" err="1">
                <a:ea typeface="Calibri"/>
                <a:cs typeface="Calibri"/>
              </a:rPr>
              <a:t>automatizado</a:t>
            </a:r>
            <a:r>
              <a:rPr lang="en-US" sz="3200" dirty="0">
                <a:ea typeface="Calibri"/>
                <a:cs typeface="Calibri"/>
              </a:rPr>
              <a:t> </a:t>
            </a:r>
            <a:r>
              <a:rPr lang="en-US" sz="3200" dirty="0" err="1">
                <a:ea typeface="Calibri"/>
                <a:cs typeface="Calibri"/>
              </a:rPr>
              <a:t>por</a:t>
            </a:r>
            <a:r>
              <a:rPr lang="en-US" sz="3200" dirty="0">
                <a:ea typeface="Calibri"/>
                <a:cs typeface="Calibri"/>
              </a:rPr>
              <a:t> IA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B761D-2C10-F137-B227-6911FE962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 dirty="0" err="1"/>
              <a:t>Simulação</a:t>
            </a:r>
            <a:r>
              <a:rPr lang="en-US" dirty="0"/>
              <a:t>, </a:t>
            </a:r>
            <a:r>
              <a:rPr lang="en-US" dirty="0" err="1"/>
              <a:t>Análise</a:t>
            </a:r>
            <a:r>
              <a:rPr lang="en-US" dirty="0"/>
              <a:t> e </a:t>
            </a:r>
            <a:r>
              <a:rPr lang="en-US" dirty="0" err="1"/>
              <a:t>Diagnóstico</a:t>
            </a:r>
            <a:r>
              <a:rPr lang="en-US" dirty="0"/>
              <a:t> </a:t>
            </a:r>
            <a:r>
              <a:rPr lang="en-US" dirty="0" err="1"/>
              <a:t>Automatizado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IA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+mn-lt"/>
                <a:cs typeface="+mn-lt"/>
              </a:rPr>
              <a:t>O </a:t>
            </a:r>
            <a:r>
              <a:rPr lang="en-US" b="1" dirty="0">
                <a:ea typeface="+mn-lt"/>
                <a:cs typeface="+mn-lt"/>
              </a:rPr>
              <a:t>Projecto Gaia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incorpora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inteligência</a:t>
            </a:r>
            <a:r>
              <a:rPr lang="en-US" dirty="0">
                <a:ea typeface="+mn-lt"/>
                <a:cs typeface="+mn-lt"/>
              </a:rPr>
              <a:t> artificial para </a:t>
            </a:r>
            <a:r>
              <a:rPr lang="en-US" dirty="0" err="1">
                <a:ea typeface="+mn-lt"/>
                <a:cs typeface="+mn-lt"/>
              </a:rPr>
              <a:t>transformar</a:t>
            </a:r>
            <a:r>
              <a:rPr lang="en-US" dirty="0">
                <a:ea typeface="+mn-lt"/>
                <a:cs typeface="+mn-lt"/>
              </a:rPr>
              <a:t> dados </a:t>
            </a:r>
            <a:r>
              <a:rPr lang="en-US" dirty="0" err="1">
                <a:ea typeface="+mn-lt"/>
                <a:cs typeface="+mn-lt"/>
              </a:rPr>
              <a:t>complexos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em</a:t>
            </a:r>
            <a:r>
              <a:rPr lang="en-US" dirty="0">
                <a:ea typeface="+mn-lt"/>
                <a:cs typeface="+mn-lt"/>
              </a:rPr>
              <a:t> insights </a:t>
            </a:r>
            <a:r>
              <a:rPr lang="en-US" dirty="0" err="1">
                <a:ea typeface="+mn-lt"/>
                <a:cs typeface="+mn-lt"/>
              </a:rPr>
              <a:t>acionáveis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permitindo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r>
              <a:rPr lang="en-US" b="1" dirty="0" err="1">
                <a:ea typeface="+mn-lt"/>
                <a:cs typeface="+mn-lt"/>
              </a:rPr>
              <a:t>Simulações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precisas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baseadas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em</a:t>
            </a:r>
            <a:r>
              <a:rPr lang="en-US" dirty="0">
                <a:ea typeface="+mn-lt"/>
                <a:cs typeface="+mn-lt"/>
              </a:rPr>
              <a:t> dados </a:t>
            </a:r>
            <a:r>
              <a:rPr lang="en-US" dirty="0" err="1">
                <a:ea typeface="+mn-lt"/>
                <a:cs typeface="+mn-lt"/>
              </a:rPr>
              <a:t>locais</a:t>
            </a:r>
            <a:r>
              <a:rPr lang="en-US" dirty="0">
                <a:ea typeface="+mn-lt"/>
                <a:cs typeface="+mn-lt"/>
              </a:rPr>
              <a:t> para </a:t>
            </a:r>
            <a:r>
              <a:rPr lang="en-US" dirty="0" err="1">
                <a:ea typeface="+mn-lt"/>
                <a:cs typeface="+mn-lt"/>
              </a:rPr>
              <a:t>prever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comportamentos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otimizar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operações</a:t>
            </a:r>
            <a:endParaRPr lang="en-US" dirty="0" err="1"/>
          </a:p>
          <a:p>
            <a:r>
              <a:rPr lang="en-US" b="1" dirty="0" err="1">
                <a:ea typeface="+mn-lt"/>
                <a:cs typeface="+mn-lt"/>
              </a:rPr>
              <a:t>Análise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automática</a:t>
            </a:r>
            <a:r>
              <a:rPr lang="en-US" b="1" dirty="0">
                <a:ea typeface="+mn-lt"/>
                <a:cs typeface="+mn-lt"/>
              </a:rPr>
              <a:t> de dados </a:t>
            </a:r>
            <a:r>
              <a:rPr lang="en-US" b="1" dirty="0" err="1">
                <a:ea typeface="+mn-lt"/>
                <a:cs typeface="+mn-lt"/>
              </a:rPr>
              <a:t>operacionais</a:t>
            </a:r>
            <a:r>
              <a:rPr lang="en-US" dirty="0">
                <a:ea typeface="+mn-lt"/>
                <a:cs typeface="+mn-lt"/>
              </a:rPr>
              <a:t> para </a:t>
            </a:r>
            <a:r>
              <a:rPr lang="en-US" dirty="0" err="1">
                <a:ea typeface="+mn-lt"/>
                <a:cs typeface="+mn-lt"/>
              </a:rPr>
              <a:t>identificar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padrões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anomalias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oportunidades</a:t>
            </a:r>
            <a:endParaRPr lang="en-US" dirty="0" err="1"/>
          </a:p>
          <a:p>
            <a:r>
              <a:rPr lang="en-US" b="1" dirty="0" err="1">
                <a:ea typeface="+mn-lt"/>
                <a:cs typeface="+mn-lt"/>
              </a:rPr>
              <a:t>Diagnóstico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inteligente</a:t>
            </a:r>
            <a:r>
              <a:rPr lang="en-US" dirty="0">
                <a:ea typeface="+mn-lt"/>
                <a:cs typeface="+mn-lt"/>
              </a:rPr>
              <a:t> que </a:t>
            </a:r>
            <a:r>
              <a:rPr lang="en-US" dirty="0" err="1">
                <a:ea typeface="+mn-lt"/>
                <a:cs typeface="+mn-lt"/>
              </a:rPr>
              <a:t>recomenda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soluções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eficazes</a:t>
            </a:r>
            <a:r>
              <a:rPr lang="en-US" dirty="0">
                <a:ea typeface="+mn-lt"/>
                <a:cs typeface="+mn-lt"/>
              </a:rPr>
              <a:t> para </a:t>
            </a:r>
            <a:r>
              <a:rPr lang="en-US" dirty="0" err="1">
                <a:ea typeface="+mn-lt"/>
                <a:cs typeface="+mn-lt"/>
              </a:rPr>
              <a:t>eventos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críticos</a:t>
            </a:r>
            <a:endParaRPr lang="en-US" dirty="0" err="1"/>
          </a:p>
          <a:p>
            <a:r>
              <a:rPr lang="en-US" b="1" dirty="0" err="1">
                <a:ea typeface="+mn-lt"/>
                <a:cs typeface="+mn-lt"/>
              </a:rPr>
              <a:t>Aprendizado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contínuo</a:t>
            </a:r>
            <a:r>
              <a:rPr lang="en-US" dirty="0">
                <a:ea typeface="+mn-lt"/>
                <a:cs typeface="+mn-lt"/>
              </a:rPr>
              <a:t> para </a:t>
            </a:r>
            <a:r>
              <a:rPr lang="en-US" dirty="0" err="1">
                <a:ea typeface="+mn-lt"/>
                <a:cs typeface="+mn-lt"/>
              </a:rPr>
              <a:t>aprimorar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previsões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respostas</a:t>
            </a:r>
            <a:r>
              <a:rPr lang="en-US" dirty="0">
                <a:ea typeface="+mn-lt"/>
                <a:cs typeface="+mn-lt"/>
              </a:rPr>
              <a:t> com base </a:t>
            </a:r>
            <a:r>
              <a:rPr lang="en-US" dirty="0" err="1">
                <a:ea typeface="+mn-lt"/>
                <a:cs typeface="+mn-lt"/>
              </a:rPr>
              <a:t>em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novas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informações</a:t>
            </a:r>
            <a:endParaRPr lang="en-US" dirty="0" err="1"/>
          </a:p>
          <a:p>
            <a:r>
              <a:rPr lang="en-US" b="1" dirty="0" err="1">
                <a:ea typeface="+mn-lt"/>
                <a:cs typeface="+mn-lt"/>
              </a:rPr>
              <a:t>Benefícios</a:t>
            </a:r>
            <a:r>
              <a:rPr lang="en-US" b="1" dirty="0">
                <a:ea typeface="+mn-lt"/>
                <a:cs typeface="+mn-lt"/>
              </a:rPr>
              <a:t>: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✅ </a:t>
            </a:r>
            <a:r>
              <a:rPr lang="en-US" b="1" dirty="0" err="1">
                <a:ea typeface="+mn-lt"/>
                <a:cs typeface="+mn-lt"/>
              </a:rPr>
              <a:t>Decisões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mais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rápidas</a:t>
            </a:r>
            <a:r>
              <a:rPr lang="en-US" b="1" dirty="0">
                <a:ea typeface="+mn-lt"/>
                <a:cs typeface="+mn-lt"/>
              </a:rPr>
              <a:t> e </a:t>
            </a:r>
            <a:r>
              <a:rPr lang="en-US" b="1" dirty="0" err="1">
                <a:ea typeface="+mn-lt"/>
                <a:cs typeface="+mn-lt"/>
              </a:rPr>
              <a:t>assertivas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✅ </a:t>
            </a:r>
            <a:r>
              <a:rPr lang="en-US" b="1" dirty="0" err="1">
                <a:ea typeface="+mn-lt"/>
                <a:cs typeface="+mn-lt"/>
              </a:rPr>
              <a:t>Redução</a:t>
            </a:r>
            <a:r>
              <a:rPr lang="en-US" b="1" dirty="0">
                <a:ea typeface="+mn-lt"/>
                <a:cs typeface="+mn-lt"/>
              </a:rPr>
              <a:t> de </a:t>
            </a:r>
            <a:r>
              <a:rPr lang="en-US" b="1" dirty="0" err="1">
                <a:ea typeface="+mn-lt"/>
                <a:cs typeface="+mn-lt"/>
              </a:rPr>
              <a:t>riscos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operacionais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✅ </a:t>
            </a:r>
            <a:r>
              <a:rPr lang="en-US" b="1" dirty="0" err="1">
                <a:ea typeface="+mn-lt"/>
                <a:cs typeface="+mn-lt"/>
              </a:rPr>
              <a:t>Melhoria</a:t>
            </a:r>
            <a:r>
              <a:rPr lang="en-US" b="1" dirty="0">
                <a:ea typeface="+mn-lt"/>
                <a:cs typeface="+mn-lt"/>
              </a:rPr>
              <a:t> da </a:t>
            </a:r>
            <a:r>
              <a:rPr lang="en-US" b="1" dirty="0" err="1">
                <a:ea typeface="+mn-lt"/>
                <a:cs typeface="+mn-lt"/>
              </a:rPr>
              <a:t>eficiência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produtiva</a:t>
            </a:r>
            <a:r>
              <a:rPr lang="en-US" b="1" dirty="0">
                <a:ea typeface="+mn-lt"/>
                <a:cs typeface="+mn-lt"/>
              </a:rPr>
              <a:t> e </a:t>
            </a:r>
            <a:r>
              <a:rPr lang="en-US" b="1" dirty="0" err="1">
                <a:ea typeface="+mn-lt"/>
                <a:cs typeface="+mn-lt"/>
              </a:rPr>
              <a:t>econômica</a:t>
            </a:r>
            <a:endParaRPr lang="en-US" dirty="0" err="1"/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095777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Escopo do MVP (P1)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In-Scope:</a:t>
            </a:r>
          </a:p>
          <a:p>
            <a:r>
              <a:t>• Gaia Nuru: IPR/VLP, dashboard, alertas</a:t>
            </a:r>
          </a:p>
          <a:p>
            <a:r>
              <a:t>• Gaia Noxus: planejamento básico, monitoramento, alertas</a:t>
            </a:r>
          </a:p>
          <a:p>
            <a:r>
              <a:t>• Gaia Genesis: fator Z, declínio, material balance, relatórios</a:t>
            </a:r>
          </a:p>
          <a:p>
            <a:br/>
            <a:r>
              <a:t>Out-of-Scope:</a:t>
            </a:r>
          </a:p>
          <a:p>
            <a:r>
              <a:t>• Otimização avançada, simulação composicional, AR, 3D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CC98B-8F7A-F2BF-EFD8-BC9116D6B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a typeface="+mj-lt"/>
                <a:cs typeface="+mj-lt"/>
              </a:rPr>
              <a:t>Gaia Nuru: </a:t>
            </a:r>
            <a:r>
              <a:rPr lang="en-US" dirty="0" err="1">
                <a:ea typeface="+mj-lt"/>
                <a:cs typeface="+mj-lt"/>
              </a:rPr>
              <a:t>Engenharia</a:t>
            </a:r>
            <a:r>
              <a:rPr lang="en-US" dirty="0">
                <a:ea typeface="+mj-lt"/>
                <a:cs typeface="+mj-lt"/>
              </a:rPr>
              <a:t> de </a:t>
            </a:r>
            <a:r>
              <a:rPr lang="en-US" dirty="0" err="1">
                <a:ea typeface="+mj-lt"/>
                <a:cs typeface="+mj-lt"/>
              </a:rPr>
              <a:t>Produção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18ABA-0B04-6C0E-31A1-F8415A233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O </a:t>
            </a:r>
            <a:r>
              <a:rPr lang="en-US" dirty="0" err="1">
                <a:ea typeface="+mn-lt"/>
                <a:cs typeface="+mn-lt"/>
              </a:rPr>
              <a:t>módulo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Gaia Nuru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concentra</a:t>
            </a:r>
            <a:r>
              <a:rPr lang="en-US" dirty="0">
                <a:ea typeface="+mn-lt"/>
                <a:cs typeface="+mn-lt"/>
              </a:rPr>
              <a:t> as </a:t>
            </a:r>
            <a:r>
              <a:rPr lang="en-US" dirty="0" err="1">
                <a:ea typeface="+mn-lt"/>
                <a:cs typeface="+mn-lt"/>
              </a:rPr>
              <a:t>funcionalidades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essenciais</a:t>
            </a:r>
            <a:r>
              <a:rPr lang="en-US" dirty="0">
                <a:ea typeface="+mn-lt"/>
                <a:cs typeface="+mn-lt"/>
              </a:rPr>
              <a:t> para </a:t>
            </a:r>
            <a:r>
              <a:rPr lang="en-US" dirty="0" err="1">
                <a:ea typeface="+mn-lt"/>
                <a:cs typeface="+mn-lt"/>
              </a:rPr>
              <a:t>otimizar</a:t>
            </a:r>
            <a:r>
              <a:rPr lang="en-US" dirty="0">
                <a:ea typeface="+mn-lt"/>
                <a:cs typeface="+mn-lt"/>
              </a:rPr>
              <a:t> o </a:t>
            </a:r>
            <a:r>
              <a:rPr lang="en-US" dirty="0" err="1">
                <a:ea typeface="+mn-lt"/>
                <a:cs typeface="+mn-lt"/>
              </a:rPr>
              <a:t>desempenho</a:t>
            </a:r>
            <a:r>
              <a:rPr lang="en-US" dirty="0">
                <a:ea typeface="+mn-lt"/>
                <a:cs typeface="+mn-lt"/>
              </a:rPr>
              <a:t> da </a:t>
            </a:r>
            <a:r>
              <a:rPr lang="en-US" dirty="0" err="1">
                <a:ea typeface="+mn-lt"/>
                <a:cs typeface="+mn-lt"/>
              </a:rPr>
              <a:t>produção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>
              <a:ea typeface="Calibri"/>
              <a:cs typeface="Calibri"/>
            </a:endParaRPr>
          </a:p>
          <a:p>
            <a:r>
              <a:rPr lang="en-US" b="1" dirty="0" err="1">
                <a:ea typeface="+mn-lt"/>
                <a:cs typeface="+mn-lt"/>
              </a:rPr>
              <a:t>Cálculo</a:t>
            </a:r>
            <a:r>
              <a:rPr lang="en-US" b="1" dirty="0">
                <a:ea typeface="+mn-lt"/>
                <a:cs typeface="+mn-lt"/>
              </a:rPr>
              <a:t> de curvas IPR (Inflow Performance Relationship) e VLP (Vertical Lift Performance)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permitindo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avaliação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precisa</a:t>
            </a:r>
            <a:r>
              <a:rPr lang="en-US" dirty="0">
                <a:ea typeface="+mn-lt"/>
                <a:cs typeface="+mn-lt"/>
              </a:rPr>
              <a:t> do </a:t>
            </a:r>
            <a:r>
              <a:rPr lang="en-US" dirty="0" err="1">
                <a:ea typeface="+mn-lt"/>
                <a:cs typeface="+mn-lt"/>
              </a:rPr>
              <a:t>potencial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produtivo</a:t>
            </a:r>
            <a:r>
              <a:rPr lang="en-US" dirty="0">
                <a:ea typeface="+mn-lt"/>
                <a:cs typeface="+mn-lt"/>
              </a:rPr>
              <a:t> dos </a:t>
            </a:r>
            <a:r>
              <a:rPr lang="en-US" dirty="0" err="1">
                <a:ea typeface="+mn-lt"/>
                <a:cs typeface="+mn-lt"/>
              </a:rPr>
              <a:t>poços</a:t>
            </a:r>
            <a:endParaRPr lang="en-US" dirty="0" err="1"/>
          </a:p>
          <a:p>
            <a:r>
              <a:rPr lang="en-US" b="1" dirty="0">
                <a:ea typeface="+mn-lt"/>
                <a:cs typeface="+mn-lt"/>
              </a:rPr>
              <a:t>Dashboard </a:t>
            </a:r>
            <a:r>
              <a:rPr lang="en-US" b="1" dirty="0" err="1">
                <a:ea typeface="+mn-lt"/>
                <a:cs typeface="+mn-lt"/>
              </a:rPr>
              <a:t>em</a:t>
            </a:r>
            <a:r>
              <a:rPr lang="en-US" b="1" dirty="0">
                <a:ea typeface="+mn-lt"/>
                <a:cs typeface="+mn-lt"/>
              </a:rPr>
              <a:t> tempo real</a:t>
            </a:r>
            <a:r>
              <a:rPr lang="en-US" dirty="0">
                <a:ea typeface="+mn-lt"/>
                <a:cs typeface="+mn-lt"/>
              </a:rPr>
              <a:t> para </a:t>
            </a:r>
            <a:r>
              <a:rPr lang="en-US" dirty="0" err="1">
                <a:ea typeface="+mn-lt"/>
                <a:cs typeface="+mn-lt"/>
              </a:rPr>
              <a:t>monitoramento</a:t>
            </a:r>
            <a:r>
              <a:rPr lang="en-US" dirty="0">
                <a:ea typeface="+mn-lt"/>
                <a:cs typeface="+mn-lt"/>
              </a:rPr>
              <a:t> da </a:t>
            </a:r>
            <a:r>
              <a:rPr lang="en-US" dirty="0" err="1">
                <a:ea typeface="+mn-lt"/>
                <a:cs typeface="+mn-lt"/>
              </a:rPr>
              <a:t>produção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facilitando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visualização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rápida</a:t>
            </a:r>
            <a:r>
              <a:rPr lang="en-US" dirty="0">
                <a:ea typeface="+mn-lt"/>
                <a:cs typeface="+mn-lt"/>
              </a:rPr>
              <a:t> dos </a:t>
            </a:r>
            <a:r>
              <a:rPr lang="en-US" dirty="0" err="1">
                <a:ea typeface="+mn-lt"/>
                <a:cs typeface="+mn-lt"/>
              </a:rPr>
              <a:t>indicadores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chave</a:t>
            </a:r>
            <a:endParaRPr lang="en-US" dirty="0" err="1"/>
          </a:p>
          <a:p>
            <a:r>
              <a:rPr lang="en-US" b="1" dirty="0" err="1">
                <a:ea typeface="+mn-lt"/>
                <a:cs typeface="+mn-lt"/>
              </a:rPr>
              <a:t>Alertas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automáticos</a:t>
            </a:r>
            <a:r>
              <a:rPr lang="en-US" dirty="0">
                <a:ea typeface="+mn-lt"/>
                <a:cs typeface="+mn-lt"/>
              </a:rPr>
              <a:t> para </a:t>
            </a:r>
            <a:r>
              <a:rPr lang="en-US" dirty="0" err="1">
                <a:ea typeface="+mn-lt"/>
                <a:cs typeface="+mn-lt"/>
              </a:rPr>
              <a:t>detecção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precoce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anomalias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falhas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operacionais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ajudando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evitar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paradas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inesperadas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perdas</a:t>
            </a:r>
            <a:endParaRPr lang="en-US" dirty="0" err="1"/>
          </a:p>
          <a:p>
            <a:r>
              <a:rPr lang="en-US" dirty="0">
                <a:ea typeface="+mn-lt"/>
                <a:cs typeface="+mn-lt"/>
              </a:rPr>
              <a:t>Com </a:t>
            </a:r>
            <a:r>
              <a:rPr lang="en-US" dirty="0" err="1">
                <a:ea typeface="+mn-lt"/>
                <a:cs typeface="+mn-lt"/>
              </a:rPr>
              <a:t>essas</a:t>
            </a:r>
            <a:r>
              <a:rPr lang="en-US" dirty="0">
                <a:ea typeface="+mn-lt"/>
                <a:cs typeface="+mn-lt"/>
              </a:rPr>
              <a:t> ferramentas, </a:t>
            </a:r>
            <a:r>
              <a:rPr lang="en-US" dirty="0" err="1">
                <a:ea typeface="+mn-lt"/>
                <a:cs typeface="+mn-lt"/>
              </a:rPr>
              <a:t>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engenheiros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produção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podem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tomar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decisões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informadas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rápidas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melhorando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eficiência</a:t>
            </a:r>
            <a:r>
              <a:rPr lang="en-US" dirty="0">
                <a:ea typeface="+mn-lt"/>
                <a:cs typeface="+mn-lt"/>
              </a:rPr>
              <a:t> e a </a:t>
            </a:r>
            <a:r>
              <a:rPr lang="en-US" dirty="0" err="1">
                <a:ea typeface="+mn-lt"/>
                <a:cs typeface="+mn-lt"/>
              </a:rPr>
              <a:t>segurança</a:t>
            </a:r>
            <a:r>
              <a:rPr lang="en-US" dirty="0">
                <a:ea typeface="+mn-lt"/>
                <a:cs typeface="+mn-lt"/>
              </a:rPr>
              <a:t> das </a:t>
            </a:r>
            <a:r>
              <a:rPr lang="en-US" dirty="0" err="1">
                <a:ea typeface="+mn-lt"/>
                <a:cs typeface="+mn-lt"/>
              </a:rPr>
              <a:t>operações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98835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DE622-7D3B-557E-85C5-C6C6CC32A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dirty="0">
                <a:ea typeface="Calibri"/>
                <a:cs typeface="Calibri"/>
              </a:rPr>
              <a:t>Gaia </a:t>
            </a:r>
            <a:r>
              <a:rPr lang="en-US" sz="3200" dirty="0" err="1">
                <a:ea typeface="Calibri"/>
                <a:cs typeface="Calibri"/>
              </a:rPr>
              <a:t>Noxus</a:t>
            </a:r>
            <a:r>
              <a:rPr lang="en-US" sz="3200" dirty="0">
                <a:ea typeface="Calibri"/>
                <a:cs typeface="Calibri"/>
              </a:rPr>
              <a:t>: </a:t>
            </a:r>
            <a:r>
              <a:rPr lang="en-US" sz="3200" dirty="0" err="1">
                <a:ea typeface="Calibri"/>
                <a:cs typeface="Calibri"/>
              </a:rPr>
              <a:t>planejamento</a:t>
            </a:r>
            <a:r>
              <a:rPr lang="en-US" sz="3200" dirty="0">
                <a:ea typeface="Calibri"/>
                <a:cs typeface="Calibri"/>
              </a:rPr>
              <a:t> </a:t>
            </a:r>
            <a:r>
              <a:rPr lang="en-US" sz="3200" dirty="0" err="1">
                <a:ea typeface="Calibri"/>
                <a:cs typeface="Calibri"/>
              </a:rPr>
              <a:t>básico</a:t>
            </a:r>
            <a:r>
              <a:rPr lang="en-US" sz="3200" dirty="0">
                <a:ea typeface="Calibri"/>
                <a:cs typeface="Calibri"/>
              </a:rPr>
              <a:t>, </a:t>
            </a:r>
            <a:r>
              <a:rPr lang="en-US" sz="3200" dirty="0" err="1">
                <a:ea typeface="Calibri"/>
                <a:cs typeface="Calibri"/>
              </a:rPr>
              <a:t>monitoramento</a:t>
            </a:r>
            <a:r>
              <a:rPr lang="en-US" sz="3200" dirty="0">
                <a:ea typeface="Calibri"/>
                <a:cs typeface="Calibri"/>
              </a:rPr>
              <a:t>, </a:t>
            </a:r>
            <a:r>
              <a:rPr lang="en-US" sz="3200" dirty="0" err="1">
                <a:ea typeface="Calibri"/>
                <a:cs typeface="Calibri"/>
              </a:rPr>
              <a:t>alertas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FA324-55D4-4679-5C32-FA58C6342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O </a:t>
            </a:r>
            <a:r>
              <a:rPr lang="en-US" dirty="0" err="1">
                <a:ea typeface="+mn-lt"/>
                <a:cs typeface="+mn-lt"/>
              </a:rPr>
              <a:t>módulo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Gaia </a:t>
            </a:r>
            <a:r>
              <a:rPr lang="en-US" b="1" dirty="0" err="1">
                <a:ea typeface="+mn-lt"/>
                <a:cs typeface="+mn-lt"/>
              </a:rPr>
              <a:t>Noxus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oferece</a:t>
            </a:r>
            <a:r>
              <a:rPr lang="en-US" dirty="0">
                <a:ea typeface="+mn-lt"/>
                <a:cs typeface="+mn-lt"/>
              </a:rPr>
              <a:t> ferramentas </a:t>
            </a:r>
            <a:r>
              <a:rPr lang="en-US" dirty="0" err="1">
                <a:ea typeface="+mn-lt"/>
                <a:cs typeface="+mn-lt"/>
              </a:rPr>
              <a:t>essenciais</a:t>
            </a:r>
            <a:r>
              <a:rPr lang="en-US" dirty="0">
                <a:ea typeface="+mn-lt"/>
                <a:cs typeface="+mn-lt"/>
              </a:rPr>
              <a:t> para </a:t>
            </a:r>
            <a:r>
              <a:rPr lang="en-US" dirty="0" err="1">
                <a:ea typeface="+mn-lt"/>
                <a:cs typeface="+mn-lt"/>
              </a:rPr>
              <a:t>apoiar</a:t>
            </a:r>
            <a:r>
              <a:rPr lang="en-US" dirty="0">
                <a:ea typeface="+mn-lt"/>
                <a:cs typeface="+mn-lt"/>
              </a:rPr>
              <a:t> o </a:t>
            </a:r>
            <a:r>
              <a:rPr lang="en-US" dirty="0" err="1">
                <a:ea typeface="+mn-lt"/>
                <a:cs typeface="+mn-lt"/>
              </a:rPr>
              <a:t>planejamento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controle</a:t>
            </a:r>
            <a:r>
              <a:rPr lang="en-US" dirty="0">
                <a:ea typeface="+mn-lt"/>
                <a:cs typeface="+mn-lt"/>
              </a:rPr>
              <a:t> das </a:t>
            </a:r>
            <a:r>
              <a:rPr lang="en-US" dirty="0" err="1">
                <a:ea typeface="+mn-lt"/>
                <a:cs typeface="+mn-lt"/>
              </a:rPr>
              <a:t>operações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perfuração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>
              <a:ea typeface="Calibri"/>
              <a:cs typeface="Calibri"/>
            </a:endParaRPr>
          </a:p>
          <a:p>
            <a:r>
              <a:rPr lang="en-US" b="1" err="1">
                <a:ea typeface="+mn-lt"/>
                <a:cs typeface="+mn-lt"/>
              </a:rPr>
              <a:t>Planejamento</a:t>
            </a:r>
            <a:r>
              <a:rPr lang="en-US" b="1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básico</a:t>
            </a:r>
            <a:r>
              <a:rPr lang="en-US" b="1">
                <a:ea typeface="+mn-lt"/>
                <a:cs typeface="+mn-lt"/>
              </a:rPr>
              <a:t> de </a:t>
            </a:r>
            <a:r>
              <a:rPr lang="en-US" b="1" err="1">
                <a:ea typeface="+mn-lt"/>
                <a:cs typeface="+mn-lt"/>
              </a:rPr>
              <a:t>poços</a:t>
            </a:r>
            <a:r>
              <a:rPr lang="en-US">
                <a:ea typeface="+mn-lt"/>
                <a:cs typeface="+mn-lt"/>
              </a:rPr>
              <a:t> (</a:t>
            </a:r>
            <a:r>
              <a:rPr lang="en-US" err="1">
                <a:ea typeface="+mn-lt"/>
                <a:cs typeface="+mn-lt"/>
              </a:rPr>
              <a:t>verticais</a:t>
            </a:r>
            <a:r>
              <a:rPr lang="en-US">
                <a:ea typeface="+mn-lt"/>
                <a:cs typeface="+mn-lt"/>
              </a:rPr>
              <a:t> e </a:t>
            </a:r>
            <a:r>
              <a:rPr lang="en-US" err="1">
                <a:ea typeface="+mn-lt"/>
                <a:cs typeface="+mn-lt"/>
              </a:rPr>
              <a:t>desviados</a:t>
            </a:r>
            <a:r>
              <a:rPr lang="en-US">
                <a:ea typeface="+mn-lt"/>
                <a:cs typeface="+mn-lt"/>
              </a:rPr>
              <a:t>), </a:t>
            </a:r>
            <a:r>
              <a:rPr lang="en-US" err="1">
                <a:ea typeface="+mn-lt"/>
                <a:cs typeface="+mn-lt"/>
              </a:rPr>
              <a:t>permitindo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estruturar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operações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maneira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eficiente</a:t>
            </a:r>
            <a:r>
              <a:rPr lang="en-US">
                <a:ea typeface="+mn-lt"/>
                <a:cs typeface="+mn-lt"/>
              </a:rPr>
              <a:t> e </a:t>
            </a:r>
            <a:r>
              <a:rPr lang="en-US" err="1">
                <a:ea typeface="+mn-lt"/>
                <a:cs typeface="+mn-lt"/>
              </a:rPr>
              <a:t>segura</a:t>
            </a:r>
            <a:endParaRPr lang="en-US" err="1"/>
          </a:p>
          <a:p>
            <a:r>
              <a:rPr lang="en-US" b="1" dirty="0" err="1">
                <a:ea typeface="+mn-lt"/>
                <a:cs typeface="+mn-lt"/>
              </a:rPr>
              <a:t>Monitoramento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em</a:t>
            </a:r>
            <a:r>
              <a:rPr lang="en-US" b="1" dirty="0">
                <a:ea typeface="+mn-lt"/>
                <a:cs typeface="+mn-lt"/>
              </a:rPr>
              <a:t> tempo real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parâmetros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críticos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como</a:t>
            </a:r>
            <a:r>
              <a:rPr lang="en-US" dirty="0">
                <a:ea typeface="+mn-lt"/>
                <a:cs typeface="+mn-lt"/>
              </a:rPr>
              <a:t> ROP (Rate of Penetration), WOB (Weight on Bit) e torque</a:t>
            </a:r>
            <a:endParaRPr lang="en-US" dirty="0"/>
          </a:p>
          <a:p>
            <a:r>
              <a:rPr lang="en-US" b="1" dirty="0" err="1">
                <a:ea typeface="+mn-lt"/>
                <a:cs typeface="+mn-lt"/>
              </a:rPr>
              <a:t>Alertas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automáticos</a:t>
            </a:r>
            <a:r>
              <a:rPr lang="en-US" dirty="0">
                <a:ea typeface="+mn-lt"/>
                <a:cs typeface="+mn-lt"/>
              </a:rPr>
              <a:t> para </a:t>
            </a:r>
            <a:r>
              <a:rPr lang="en-US" dirty="0" err="1">
                <a:ea typeface="+mn-lt"/>
                <a:cs typeface="+mn-lt"/>
              </a:rPr>
              <a:t>identificar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riscos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como</a:t>
            </a:r>
            <a:r>
              <a:rPr lang="en-US" dirty="0">
                <a:ea typeface="+mn-lt"/>
                <a:cs typeface="+mn-lt"/>
              </a:rPr>
              <a:t> kicks e </a:t>
            </a:r>
            <a:r>
              <a:rPr lang="en-US" dirty="0" err="1">
                <a:ea typeface="+mn-lt"/>
                <a:cs typeface="+mn-lt"/>
              </a:rPr>
              <a:t>perda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circulação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contribuindo</a:t>
            </a:r>
            <a:r>
              <a:rPr lang="en-US" dirty="0">
                <a:ea typeface="+mn-lt"/>
                <a:cs typeface="+mn-lt"/>
              </a:rPr>
              <a:t> para a </a:t>
            </a:r>
            <a:r>
              <a:rPr lang="en-US" dirty="0" err="1">
                <a:ea typeface="+mn-lt"/>
                <a:cs typeface="+mn-lt"/>
              </a:rPr>
              <a:t>prevenção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incidentes</a:t>
            </a:r>
            <a:endParaRPr lang="en-US" dirty="0" err="1"/>
          </a:p>
          <a:p>
            <a:r>
              <a:rPr lang="en-US" dirty="0" err="1">
                <a:ea typeface="+mn-lt"/>
                <a:cs typeface="+mn-lt"/>
              </a:rPr>
              <a:t>Essas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funcionalidades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garantem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maior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controle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segurança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eficiência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durante</a:t>
            </a:r>
            <a:r>
              <a:rPr lang="en-US" dirty="0">
                <a:ea typeface="+mn-lt"/>
                <a:cs typeface="+mn-lt"/>
              </a:rPr>
              <a:t> as </a:t>
            </a:r>
            <a:r>
              <a:rPr lang="en-US" dirty="0" err="1">
                <a:ea typeface="+mn-lt"/>
                <a:cs typeface="+mn-lt"/>
              </a:rPr>
              <a:t>atividades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perfuração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678684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9610A-4FA7-8F01-BC91-BDEFEEBD4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285750" indent="-285750" algn="l">
              <a:spcBef>
                <a:spcPct val="20000"/>
              </a:spcBef>
              <a:buFont typeface="Arial"/>
              <a:buChar char="•"/>
            </a:pPr>
            <a:r>
              <a:rPr lang="en-US" sz="3200" dirty="0">
                <a:ea typeface="Calibri"/>
                <a:cs typeface="Calibri"/>
              </a:rPr>
              <a:t>Gaia Genesis: </a:t>
            </a:r>
            <a:r>
              <a:rPr lang="en-US" sz="3200" dirty="0" err="1">
                <a:ea typeface="Calibri"/>
                <a:cs typeface="Calibri"/>
              </a:rPr>
              <a:t>fator</a:t>
            </a:r>
            <a:r>
              <a:rPr lang="en-US" sz="3200" dirty="0">
                <a:ea typeface="Calibri"/>
                <a:cs typeface="Calibri"/>
              </a:rPr>
              <a:t> Z, </a:t>
            </a:r>
            <a:r>
              <a:rPr lang="en-US" sz="3200" dirty="0" err="1">
                <a:ea typeface="Calibri"/>
                <a:cs typeface="Calibri"/>
              </a:rPr>
              <a:t>declínio</a:t>
            </a:r>
            <a:r>
              <a:rPr lang="en-US" sz="3200" dirty="0">
                <a:ea typeface="Calibri"/>
                <a:cs typeface="Calibri"/>
              </a:rPr>
              <a:t>, material balance, </a:t>
            </a:r>
            <a:r>
              <a:rPr lang="en-US" sz="3200" dirty="0" err="1">
                <a:ea typeface="Calibri"/>
                <a:cs typeface="Calibri"/>
              </a:rPr>
              <a:t>relatórios</a:t>
            </a:r>
          </a:p>
          <a:p>
            <a:pPr marL="285750" indent="-285750" algn="l">
              <a:spcBef>
                <a:spcPct val="20000"/>
              </a:spcBef>
              <a:buFont typeface="Arial"/>
              <a:buChar char="•"/>
            </a:pPr>
            <a:br>
              <a:rPr lang="en-US" sz="3200" dirty="0">
                <a:ea typeface="Calibri"/>
                <a:cs typeface="Calibri"/>
              </a:rPr>
            </a:br>
            <a:endParaRPr lang="en-US" sz="3200" dirty="0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6A99C-6E3A-BB02-DBF2-B3CF95CBC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O </a:t>
            </a:r>
            <a:r>
              <a:rPr lang="en-US" dirty="0" err="1">
                <a:ea typeface="+mn-lt"/>
                <a:cs typeface="+mn-lt"/>
              </a:rPr>
              <a:t>módulo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Gaia Genesis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concentra</a:t>
            </a:r>
            <a:r>
              <a:rPr lang="en-US" dirty="0">
                <a:ea typeface="+mn-lt"/>
                <a:cs typeface="+mn-lt"/>
              </a:rPr>
              <a:t> as </a:t>
            </a:r>
            <a:r>
              <a:rPr lang="en-US" dirty="0" err="1">
                <a:ea typeface="+mn-lt"/>
                <a:cs typeface="+mn-lt"/>
              </a:rPr>
              <a:t>principais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funções</a:t>
            </a:r>
            <a:r>
              <a:rPr lang="en-US" dirty="0">
                <a:ea typeface="+mn-lt"/>
                <a:cs typeface="+mn-lt"/>
              </a:rPr>
              <a:t> para </a:t>
            </a:r>
            <a:r>
              <a:rPr lang="en-US" dirty="0" err="1">
                <a:ea typeface="+mn-lt"/>
                <a:cs typeface="+mn-lt"/>
              </a:rPr>
              <a:t>análise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gestão</a:t>
            </a:r>
            <a:r>
              <a:rPr lang="en-US" dirty="0">
                <a:ea typeface="+mn-lt"/>
                <a:cs typeface="+mn-lt"/>
              </a:rPr>
              <a:t> dos </a:t>
            </a:r>
            <a:r>
              <a:rPr lang="en-US" dirty="0" err="1">
                <a:ea typeface="+mn-lt"/>
                <a:cs typeface="+mn-lt"/>
              </a:rPr>
              <a:t>reservatórios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>
              <a:ea typeface="Calibri"/>
              <a:cs typeface="Calibri"/>
            </a:endParaRPr>
          </a:p>
          <a:p>
            <a:r>
              <a:rPr lang="en-US" b="1" dirty="0" err="1">
                <a:ea typeface="+mn-lt"/>
                <a:cs typeface="+mn-lt"/>
              </a:rPr>
              <a:t>Cálculo</a:t>
            </a:r>
            <a:r>
              <a:rPr lang="en-US" b="1" dirty="0">
                <a:ea typeface="+mn-lt"/>
                <a:cs typeface="+mn-lt"/>
              </a:rPr>
              <a:t> do </a:t>
            </a:r>
            <a:r>
              <a:rPr lang="en-US" b="1" dirty="0" err="1">
                <a:ea typeface="+mn-lt"/>
                <a:cs typeface="+mn-lt"/>
              </a:rPr>
              <a:t>fator</a:t>
            </a:r>
            <a:r>
              <a:rPr lang="en-US" b="1" dirty="0">
                <a:ea typeface="+mn-lt"/>
                <a:cs typeface="+mn-lt"/>
              </a:rPr>
              <a:t> Z e </a:t>
            </a:r>
            <a:r>
              <a:rPr lang="en-US" b="1" dirty="0" err="1">
                <a:ea typeface="+mn-lt"/>
                <a:cs typeface="+mn-lt"/>
              </a:rPr>
              <a:t>compressibilidade</a:t>
            </a:r>
            <a:r>
              <a:rPr lang="en-US" b="1" dirty="0">
                <a:ea typeface="+mn-lt"/>
                <a:cs typeface="+mn-lt"/>
              </a:rPr>
              <a:t> do </a:t>
            </a:r>
            <a:r>
              <a:rPr lang="en-US" b="1" dirty="0" err="1">
                <a:ea typeface="+mn-lt"/>
                <a:cs typeface="+mn-lt"/>
              </a:rPr>
              <a:t>gás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essenciais</a:t>
            </a:r>
            <a:r>
              <a:rPr lang="en-US" dirty="0">
                <a:ea typeface="+mn-lt"/>
                <a:cs typeface="+mn-lt"/>
              </a:rPr>
              <a:t> para </a:t>
            </a:r>
            <a:r>
              <a:rPr lang="en-US" dirty="0" err="1">
                <a:ea typeface="+mn-lt"/>
                <a:cs typeface="+mn-lt"/>
              </a:rPr>
              <a:t>modelagem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precisa</a:t>
            </a:r>
            <a:r>
              <a:rPr lang="en-US" dirty="0">
                <a:ea typeface="+mn-lt"/>
                <a:cs typeface="+mn-lt"/>
              </a:rPr>
              <a:t> do </a:t>
            </a:r>
            <a:r>
              <a:rPr lang="en-US" dirty="0" err="1">
                <a:ea typeface="+mn-lt"/>
                <a:cs typeface="+mn-lt"/>
              </a:rPr>
              <a:t>comportamento</a:t>
            </a:r>
            <a:r>
              <a:rPr lang="en-US" dirty="0">
                <a:ea typeface="+mn-lt"/>
                <a:cs typeface="+mn-lt"/>
              </a:rPr>
              <a:t> dos </a:t>
            </a:r>
            <a:r>
              <a:rPr lang="en-US" dirty="0" err="1">
                <a:ea typeface="+mn-lt"/>
                <a:cs typeface="+mn-lt"/>
              </a:rPr>
              <a:t>fluidos</a:t>
            </a:r>
            <a:endParaRPr lang="en-US" dirty="0" err="1"/>
          </a:p>
          <a:p>
            <a:r>
              <a:rPr lang="en-US" b="1" dirty="0" err="1">
                <a:ea typeface="+mn-lt"/>
                <a:cs typeface="+mn-lt"/>
              </a:rPr>
              <a:t>Geração</a:t>
            </a:r>
            <a:r>
              <a:rPr lang="en-US" b="1" dirty="0">
                <a:ea typeface="+mn-lt"/>
                <a:cs typeface="+mn-lt"/>
              </a:rPr>
              <a:t> de curvas de </a:t>
            </a:r>
            <a:r>
              <a:rPr lang="en-US" b="1" dirty="0" err="1">
                <a:ea typeface="+mn-lt"/>
                <a:cs typeface="+mn-lt"/>
              </a:rPr>
              <a:t>declínio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exponencial</a:t>
            </a:r>
            <a:r>
              <a:rPr lang="en-US" b="1" dirty="0">
                <a:ea typeface="+mn-lt"/>
                <a:cs typeface="+mn-lt"/>
              </a:rPr>
              <a:t> e </a:t>
            </a:r>
            <a:r>
              <a:rPr lang="en-US" b="1" dirty="0" err="1">
                <a:ea typeface="+mn-lt"/>
                <a:cs typeface="+mn-lt"/>
              </a:rPr>
              <a:t>harmônico</a:t>
            </a:r>
            <a:r>
              <a:rPr lang="en-US" dirty="0">
                <a:ea typeface="+mn-lt"/>
                <a:cs typeface="+mn-lt"/>
              </a:rPr>
              <a:t>, para </a:t>
            </a:r>
            <a:r>
              <a:rPr lang="en-US" dirty="0" err="1">
                <a:ea typeface="+mn-lt"/>
                <a:cs typeface="+mn-lt"/>
              </a:rPr>
              <a:t>previsão</a:t>
            </a:r>
            <a:r>
              <a:rPr lang="en-US" dirty="0">
                <a:ea typeface="+mn-lt"/>
                <a:cs typeface="+mn-lt"/>
              </a:rPr>
              <a:t> da </a:t>
            </a:r>
            <a:r>
              <a:rPr lang="en-US" dirty="0" err="1">
                <a:ea typeface="+mn-lt"/>
                <a:cs typeface="+mn-lt"/>
              </a:rPr>
              <a:t>produção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futura</a:t>
            </a:r>
            <a:r>
              <a:rPr lang="en-US" dirty="0">
                <a:ea typeface="+mn-lt"/>
                <a:cs typeface="+mn-lt"/>
              </a:rPr>
              <a:t> dos </a:t>
            </a:r>
            <a:r>
              <a:rPr lang="en-US" dirty="0" err="1">
                <a:ea typeface="+mn-lt"/>
                <a:cs typeface="+mn-lt"/>
              </a:rPr>
              <a:t>poços</a:t>
            </a:r>
            <a:endParaRPr lang="en-US" dirty="0" err="1"/>
          </a:p>
          <a:p>
            <a:r>
              <a:rPr lang="en-US" b="1" dirty="0" err="1">
                <a:ea typeface="+mn-lt"/>
                <a:cs typeface="+mn-lt"/>
              </a:rPr>
              <a:t>Análise</a:t>
            </a:r>
            <a:r>
              <a:rPr lang="en-US" b="1" dirty="0">
                <a:ea typeface="+mn-lt"/>
                <a:cs typeface="+mn-lt"/>
              </a:rPr>
              <a:t> de </a:t>
            </a:r>
            <a:r>
              <a:rPr lang="en-US" b="1" dirty="0" err="1">
                <a:ea typeface="+mn-lt"/>
                <a:cs typeface="+mn-lt"/>
              </a:rPr>
              <a:t>balanço</a:t>
            </a:r>
            <a:r>
              <a:rPr lang="en-US" b="1" dirty="0">
                <a:ea typeface="+mn-lt"/>
                <a:cs typeface="+mn-lt"/>
              </a:rPr>
              <a:t> de material (material balance)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facilitando</a:t>
            </a:r>
            <a:r>
              <a:rPr lang="en-US" dirty="0">
                <a:ea typeface="+mn-lt"/>
                <a:cs typeface="+mn-lt"/>
              </a:rPr>
              <a:t> o </a:t>
            </a:r>
            <a:r>
              <a:rPr lang="en-US" dirty="0" err="1">
                <a:ea typeface="+mn-lt"/>
                <a:cs typeface="+mn-lt"/>
              </a:rPr>
              <a:t>entendimento</a:t>
            </a:r>
            <a:r>
              <a:rPr lang="en-US" dirty="0">
                <a:ea typeface="+mn-lt"/>
                <a:cs typeface="+mn-lt"/>
              </a:rPr>
              <a:t> da </a:t>
            </a:r>
            <a:r>
              <a:rPr lang="en-US" dirty="0" err="1">
                <a:ea typeface="+mn-lt"/>
                <a:cs typeface="+mn-lt"/>
              </a:rPr>
              <a:t>dinâmica</a:t>
            </a:r>
            <a:r>
              <a:rPr lang="en-US" dirty="0">
                <a:ea typeface="+mn-lt"/>
                <a:cs typeface="+mn-lt"/>
              </a:rPr>
              <a:t> do </a:t>
            </a:r>
            <a:r>
              <a:rPr lang="en-US" dirty="0" err="1">
                <a:ea typeface="+mn-lt"/>
                <a:cs typeface="+mn-lt"/>
              </a:rPr>
              <a:t>reservatório</a:t>
            </a:r>
            <a:endParaRPr lang="en-US" dirty="0" err="1"/>
          </a:p>
          <a:p>
            <a:r>
              <a:rPr lang="en-US" b="1" dirty="0" err="1">
                <a:ea typeface="+mn-lt"/>
                <a:cs typeface="+mn-lt"/>
              </a:rPr>
              <a:t>Geração</a:t>
            </a:r>
            <a:r>
              <a:rPr lang="en-US" b="1" dirty="0">
                <a:ea typeface="+mn-lt"/>
                <a:cs typeface="+mn-lt"/>
              </a:rPr>
              <a:t> de </a:t>
            </a:r>
            <a:r>
              <a:rPr lang="en-US" b="1" dirty="0" err="1">
                <a:ea typeface="+mn-lt"/>
                <a:cs typeface="+mn-lt"/>
              </a:rPr>
              <a:t>relatórios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detalhados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por</a:t>
            </a:r>
            <a:r>
              <a:rPr lang="en-US" b="1" dirty="0">
                <a:ea typeface="+mn-lt"/>
                <a:cs typeface="+mn-lt"/>
              </a:rPr>
              <a:t> zona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auxiliando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tomada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decisões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estratégicas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operacionais</a:t>
            </a:r>
            <a:endParaRPr lang="en-US" dirty="0" err="1"/>
          </a:p>
          <a:p>
            <a:r>
              <a:rPr lang="en-US" dirty="0">
                <a:ea typeface="+mn-lt"/>
                <a:cs typeface="+mn-lt"/>
              </a:rPr>
              <a:t>Com </a:t>
            </a:r>
            <a:r>
              <a:rPr lang="en-US" dirty="0" err="1">
                <a:ea typeface="+mn-lt"/>
                <a:cs typeface="+mn-lt"/>
              </a:rPr>
              <a:t>essas</a:t>
            </a:r>
            <a:r>
              <a:rPr lang="en-US" dirty="0">
                <a:ea typeface="+mn-lt"/>
                <a:cs typeface="+mn-lt"/>
              </a:rPr>
              <a:t> ferramentas, </a:t>
            </a:r>
            <a:r>
              <a:rPr lang="en-US" dirty="0" err="1">
                <a:ea typeface="+mn-lt"/>
                <a:cs typeface="+mn-lt"/>
              </a:rPr>
              <a:t>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engenheiros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reservatórios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podem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otimizar</a:t>
            </a:r>
            <a:r>
              <a:rPr lang="en-US" dirty="0">
                <a:ea typeface="+mn-lt"/>
                <a:cs typeface="+mn-lt"/>
              </a:rPr>
              <a:t> o </a:t>
            </a:r>
            <a:r>
              <a:rPr lang="en-US" dirty="0" err="1">
                <a:ea typeface="+mn-lt"/>
                <a:cs typeface="+mn-lt"/>
              </a:rPr>
              <a:t>aproveitamento</a:t>
            </a:r>
            <a:r>
              <a:rPr lang="en-US" dirty="0">
                <a:ea typeface="+mn-lt"/>
                <a:cs typeface="+mn-lt"/>
              </a:rPr>
              <a:t> dos </a:t>
            </a:r>
            <a:r>
              <a:rPr lang="en-US" dirty="0" err="1">
                <a:ea typeface="+mn-lt"/>
                <a:cs typeface="+mn-lt"/>
              </a:rPr>
              <a:t>recursos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planejar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ações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mais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eficazes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256118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5F015-4CA7-5A76-FD13-58F9E53FC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dirty="0" err="1">
                <a:ea typeface="Calibri"/>
                <a:cs typeface="Calibri"/>
              </a:rPr>
              <a:t>Otimização</a:t>
            </a:r>
            <a:r>
              <a:rPr lang="en-US" sz="3200" dirty="0">
                <a:ea typeface="Calibri"/>
                <a:cs typeface="Calibri"/>
              </a:rPr>
              <a:t> </a:t>
            </a:r>
            <a:r>
              <a:rPr lang="en-US" sz="3200" dirty="0" err="1">
                <a:ea typeface="Calibri"/>
                <a:cs typeface="Calibri"/>
              </a:rPr>
              <a:t>avançada</a:t>
            </a:r>
            <a:r>
              <a:rPr lang="en-US" sz="3200" dirty="0">
                <a:ea typeface="Calibri"/>
                <a:cs typeface="Calibri"/>
              </a:rPr>
              <a:t>, </a:t>
            </a:r>
            <a:r>
              <a:rPr lang="en-US" sz="3200" dirty="0" err="1">
                <a:ea typeface="Calibri"/>
                <a:cs typeface="Calibri"/>
              </a:rPr>
              <a:t>simulação</a:t>
            </a:r>
            <a:r>
              <a:rPr lang="en-US" sz="3200" dirty="0">
                <a:ea typeface="Calibri"/>
                <a:cs typeface="Calibri"/>
              </a:rPr>
              <a:t> </a:t>
            </a:r>
            <a:r>
              <a:rPr lang="en-US" sz="3200" dirty="0" err="1">
                <a:ea typeface="Calibri"/>
                <a:cs typeface="Calibri"/>
              </a:rPr>
              <a:t>composicional</a:t>
            </a:r>
            <a:r>
              <a:rPr lang="en-US" sz="3200" dirty="0">
                <a:ea typeface="Calibri"/>
                <a:cs typeface="Calibri"/>
              </a:rPr>
              <a:t>, AR, 3D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95256-620D-7C2B-38FD-D10B50DF2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Para </a:t>
            </a:r>
            <a:r>
              <a:rPr lang="en-US" dirty="0" err="1">
                <a:ea typeface="+mn-lt"/>
                <a:cs typeface="+mn-lt"/>
              </a:rPr>
              <a:t>esta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fase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inicial</a:t>
            </a:r>
            <a:r>
              <a:rPr lang="en-US" dirty="0">
                <a:ea typeface="+mn-lt"/>
                <a:cs typeface="+mn-lt"/>
              </a:rPr>
              <a:t> do Projecto Gaia, </a:t>
            </a:r>
            <a:r>
              <a:rPr lang="en-US" dirty="0" err="1">
                <a:ea typeface="+mn-lt"/>
                <a:cs typeface="+mn-lt"/>
              </a:rPr>
              <a:t>algumas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funcionalidades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avançadas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ficam</a:t>
            </a:r>
            <a:r>
              <a:rPr lang="en-US" dirty="0">
                <a:ea typeface="+mn-lt"/>
                <a:cs typeface="+mn-lt"/>
              </a:rPr>
              <a:t> fora do </a:t>
            </a:r>
            <a:r>
              <a:rPr lang="en-US" dirty="0" err="1">
                <a:ea typeface="+mn-lt"/>
                <a:cs typeface="+mn-lt"/>
              </a:rPr>
              <a:t>escopo</a:t>
            </a:r>
            <a:r>
              <a:rPr lang="en-US" dirty="0">
                <a:ea typeface="+mn-lt"/>
                <a:cs typeface="+mn-lt"/>
              </a:rPr>
              <a:t> para </a:t>
            </a:r>
            <a:r>
              <a:rPr lang="en-US" dirty="0" err="1">
                <a:ea typeface="+mn-lt"/>
                <a:cs typeface="+mn-lt"/>
              </a:rPr>
              <a:t>garantir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foco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entrega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rápida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>
              <a:ea typeface="Calibri"/>
              <a:cs typeface="Calibri"/>
            </a:endParaRPr>
          </a:p>
          <a:p>
            <a:r>
              <a:rPr lang="en-US" b="1" dirty="0" err="1">
                <a:ea typeface="+mn-lt"/>
                <a:cs typeface="+mn-lt"/>
              </a:rPr>
              <a:t>Otimização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avançada</a:t>
            </a:r>
            <a:r>
              <a:rPr lang="en-US" b="1" dirty="0">
                <a:ea typeface="+mn-lt"/>
                <a:cs typeface="+mn-lt"/>
              </a:rPr>
              <a:t> de </a:t>
            </a:r>
            <a:r>
              <a:rPr lang="en-US" b="1" dirty="0" err="1">
                <a:ea typeface="+mn-lt"/>
                <a:cs typeface="+mn-lt"/>
              </a:rPr>
              <a:t>elevação</a:t>
            </a:r>
            <a:r>
              <a:rPr lang="en-US" b="1" dirty="0">
                <a:ea typeface="+mn-lt"/>
                <a:cs typeface="+mn-lt"/>
              </a:rPr>
              <a:t> artificial</a:t>
            </a:r>
            <a:r>
              <a:rPr lang="en-US" dirty="0">
                <a:ea typeface="+mn-lt"/>
                <a:cs typeface="+mn-lt"/>
              </a:rPr>
              <a:t>: </a:t>
            </a:r>
            <a:r>
              <a:rPr lang="en-US" dirty="0" err="1">
                <a:ea typeface="+mn-lt"/>
                <a:cs typeface="+mn-lt"/>
              </a:rPr>
              <a:t>técnicas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complexas</a:t>
            </a:r>
            <a:r>
              <a:rPr lang="en-US" dirty="0">
                <a:ea typeface="+mn-lt"/>
                <a:cs typeface="+mn-lt"/>
              </a:rPr>
              <a:t> para </a:t>
            </a:r>
            <a:r>
              <a:rPr lang="en-US" dirty="0" err="1">
                <a:ea typeface="+mn-lt"/>
                <a:cs typeface="+mn-lt"/>
              </a:rPr>
              <a:t>maximizar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produção</a:t>
            </a:r>
            <a:r>
              <a:rPr lang="en-US" dirty="0">
                <a:ea typeface="+mn-lt"/>
                <a:cs typeface="+mn-lt"/>
              </a:rPr>
              <a:t> que </a:t>
            </a:r>
            <a:r>
              <a:rPr lang="en-US" dirty="0" err="1">
                <a:ea typeface="+mn-lt"/>
                <a:cs typeface="+mn-lt"/>
              </a:rPr>
              <a:t>serão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incorporadas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fases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futuras</a:t>
            </a:r>
            <a:endParaRPr lang="en-US" dirty="0" err="1"/>
          </a:p>
          <a:p>
            <a:r>
              <a:rPr lang="en-US" b="1" dirty="0" err="1">
                <a:ea typeface="+mn-lt"/>
                <a:cs typeface="+mn-lt"/>
              </a:rPr>
              <a:t>Simulação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composicional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complexa</a:t>
            </a:r>
            <a:r>
              <a:rPr lang="en-US" dirty="0">
                <a:ea typeface="+mn-lt"/>
                <a:cs typeface="+mn-lt"/>
              </a:rPr>
              <a:t>: </a:t>
            </a:r>
            <a:r>
              <a:rPr lang="en-US" dirty="0" err="1">
                <a:ea typeface="+mn-lt"/>
                <a:cs typeface="+mn-lt"/>
              </a:rPr>
              <a:t>modelos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detalhados</a:t>
            </a:r>
            <a:r>
              <a:rPr lang="en-US" dirty="0">
                <a:ea typeface="+mn-lt"/>
                <a:cs typeface="+mn-lt"/>
              </a:rPr>
              <a:t> para </a:t>
            </a:r>
            <a:r>
              <a:rPr lang="en-US" dirty="0" err="1">
                <a:ea typeface="+mn-lt"/>
                <a:cs typeface="+mn-lt"/>
              </a:rPr>
              <a:t>análise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fluidos</a:t>
            </a:r>
            <a:r>
              <a:rPr lang="en-US" dirty="0">
                <a:ea typeface="+mn-lt"/>
                <a:cs typeface="+mn-lt"/>
              </a:rPr>
              <a:t> que </a:t>
            </a:r>
            <a:r>
              <a:rPr lang="en-US" dirty="0" err="1">
                <a:ea typeface="+mn-lt"/>
                <a:cs typeface="+mn-lt"/>
              </a:rPr>
              <a:t>demandam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recursos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computacionais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maiores</a:t>
            </a:r>
            <a:endParaRPr lang="en-US" dirty="0" err="1"/>
          </a:p>
          <a:p>
            <a:r>
              <a:rPr lang="en-US" b="1" dirty="0" err="1">
                <a:ea typeface="+mn-lt"/>
                <a:cs typeface="+mn-lt"/>
              </a:rPr>
              <a:t>Realidade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aumentada</a:t>
            </a:r>
            <a:r>
              <a:rPr lang="en-US" b="1" dirty="0">
                <a:ea typeface="+mn-lt"/>
                <a:cs typeface="+mn-lt"/>
              </a:rPr>
              <a:t> (AR) e </a:t>
            </a:r>
            <a:r>
              <a:rPr lang="en-US" b="1" dirty="0" err="1">
                <a:ea typeface="+mn-lt"/>
                <a:cs typeface="+mn-lt"/>
              </a:rPr>
              <a:t>gráficos</a:t>
            </a:r>
            <a:r>
              <a:rPr lang="en-US" b="1" dirty="0">
                <a:ea typeface="+mn-lt"/>
                <a:cs typeface="+mn-lt"/>
              </a:rPr>
              <a:t> 3D </a:t>
            </a:r>
            <a:r>
              <a:rPr lang="en-US" b="1" dirty="0" err="1">
                <a:ea typeface="+mn-lt"/>
                <a:cs typeface="+mn-lt"/>
              </a:rPr>
              <a:t>avançados</a:t>
            </a:r>
            <a:r>
              <a:rPr lang="en-US" dirty="0">
                <a:ea typeface="+mn-lt"/>
                <a:cs typeface="+mn-lt"/>
              </a:rPr>
              <a:t>: </a:t>
            </a:r>
            <a:r>
              <a:rPr lang="en-US" dirty="0" err="1">
                <a:ea typeface="+mn-lt"/>
                <a:cs typeface="+mn-lt"/>
              </a:rPr>
              <a:t>visualizações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imersivas</a:t>
            </a:r>
            <a:r>
              <a:rPr lang="en-US" dirty="0">
                <a:ea typeface="+mn-lt"/>
                <a:cs typeface="+mn-lt"/>
              </a:rPr>
              <a:t> para </a:t>
            </a:r>
            <a:r>
              <a:rPr lang="en-US" dirty="0" err="1">
                <a:ea typeface="+mn-lt"/>
                <a:cs typeface="+mn-lt"/>
              </a:rPr>
              <a:t>suporte</a:t>
            </a:r>
            <a:r>
              <a:rPr lang="en-US" dirty="0">
                <a:ea typeface="+mn-lt"/>
                <a:cs typeface="+mn-lt"/>
              </a:rPr>
              <a:t> à </a:t>
            </a:r>
            <a:r>
              <a:rPr lang="en-US" dirty="0" err="1">
                <a:ea typeface="+mn-lt"/>
                <a:cs typeface="+mn-lt"/>
              </a:rPr>
              <a:t>operação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planejadas</a:t>
            </a:r>
            <a:r>
              <a:rPr lang="en-US" dirty="0">
                <a:ea typeface="+mn-lt"/>
                <a:cs typeface="+mn-lt"/>
              </a:rPr>
              <a:t> para </a:t>
            </a:r>
            <a:r>
              <a:rPr lang="en-US" dirty="0" err="1">
                <a:ea typeface="+mn-lt"/>
                <a:cs typeface="+mn-lt"/>
              </a:rPr>
              <a:t>versões</a:t>
            </a:r>
            <a:r>
              <a:rPr lang="en-US" dirty="0">
                <a:ea typeface="+mn-lt"/>
                <a:cs typeface="+mn-lt"/>
              </a:rPr>
              <a:t> posteriores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Esses </a:t>
            </a:r>
            <a:r>
              <a:rPr lang="en-US" dirty="0" err="1">
                <a:ea typeface="+mn-lt"/>
                <a:cs typeface="+mn-lt"/>
              </a:rPr>
              <a:t>recursos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serão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avaliados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desenvolvidos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após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validação</a:t>
            </a:r>
            <a:r>
              <a:rPr lang="en-US" dirty="0">
                <a:ea typeface="+mn-lt"/>
                <a:cs typeface="+mn-lt"/>
              </a:rPr>
              <a:t> do MVP e feedback dos </a:t>
            </a:r>
            <a:r>
              <a:rPr lang="en-US" dirty="0" err="1">
                <a:ea typeface="+mn-lt"/>
                <a:cs typeface="+mn-lt"/>
              </a:rPr>
              <a:t>usuários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825005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C1192-1AA9-9FEF-1E14-18C02273E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18789"/>
            <a:ext cx="8229600" cy="1143000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MUITO OBRIGADO!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8858A-4F0C-0A74-E144-6AE9A7347E38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457200" y="6126163"/>
            <a:ext cx="8229600" cy="89169"/>
          </a:xfrm>
        </p:spPr>
        <p:txBody>
          <a:bodyPr>
            <a:normAutofit fontScale="250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6924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CASO TENHA ALGUMA DÚVIDA NÃO SATISFEITA SOBRE A APRESENTAÇÃO:</a:t>
            </a:r>
          </a:p>
          <a:p>
            <a:r>
              <a:rPr lang="en-US" dirty="0" err="1">
                <a:ea typeface="Calibri"/>
                <a:cs typeface="Calibri"/>
              </a:rPr>
              <a:t>NOME:Rocélio</a:t>
            </a:r>
            <a:r>
              <a:rPr lang="en-US" dirty="0">
                <a:ea typeface="Calibri"/>
                <a:cs typeface="Calibri"/>
              </a:rPr>
              <a:t> Da Silva</a:t>
            </a:r>
          </a:p>
          <a:p>
            <a:r>
              <a:rPr lang="en-US">
                <a:ea typeface="Calibri"/>
                <a:cs typeface="Calibri"/>
              </a:rPr>
              <a:t>Email: </a:t>
            </a:r>
            <a:r>
              <a:rPr lang="en-US" dirty="0">
                <a:ea typeface="Calibri"/>
                <a:cs typeface="Calibri"/>
                <a:hlinkClick r:id="rId2"/>
              </a:rPr>
              <a:t>rocelioinc@gmail.com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 err="1">
                <a:ea typeface="Calibri"/>
                <a:cs typeface="Calibri"/>
              </a:rPr>
              <a:t>Linkedin</a:t>
            </a:r>
            <a:r>
              <a:rPr lang="en-US" dirty="0">
                <a:ea typeface="Calibri"/>
                <a:cs typeface="Calibri"/>
              </a:rPr>
              <a:t>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Projecto Gaia</vt:lpstr>
      <vt:lpstr>Contexto do setor petrolífero em Angola</vt:lpstr>
      <vt:lpstr>Necessidade de unificação de ferramentas</vt:lpstr>
      <vt:lpstr> Objetivo: apresentar conceito e coletar feedback </vt:lpstr>
      <vt:lpstr>Visão: Ser Referência em Angola e Países Lusófonos</vt:lpstr>
      <vt:lpstr>Integração dos Módulos Gaia Nuru, Noxus e Genesis</vt:lpstr>
      <vt:lpstr>IA Treinada com Dados de Campos Angolanos</vt:lpstr>
      <vt:lpstr>Diferenciais Chave</vt:lpstr>
      <vt:lpstr>Foco nas necessidades de empresas nacionais </vt:lpstr>
      <vt:lpstr>Interface adaptada à infraestrutura local </vt:lpstr>
      <vt:lpstr>Simulação, análise e diagnóstico automatizado por IA </vt:lpstr>
      <vt:lpstr>Escopo do MVP (P1)</vt:lpstr>
      <vt:lpstr>Gaia Nuru: Engenharia de Produção</vt:lpstr>
      <vt:lpstr>Gaia Noxus: planejamento básico, monitoramento, alertas </vt:lpstr>
      <vt:lpstr>Gaia Genesis: fator Z, declínio, material balance, relatórios  </vt:lpstr>
      <vt:lpstr>Otimização avançada, simulação composicional, AR, 3D </vt:lpstr>
      <vt:lpstr>MUITO OBRIGADO!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108</cp:revision>
  <dcterms:created xsi:type="dcterms:W3CDTF">2013-01-27T09:14:16Z</dcterms:created>
  <dcterms:modified xsi:type="dcterms:W3CDTF">2025-05-24T12:17:13Z</dcterms:modified>
  <cp:category/>
</cp:coreProperties>
</file>